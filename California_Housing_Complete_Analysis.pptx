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8" r:id="rId3"/>
    <p:sldId id="259" r:id="rId4"/>
    <p:sldId id="260" r:id="rId5"/>
    <p:sldId id="261" r:id="rId6"/>
    <p:sldId id="262" r:id="rId7"/>
    <p:sldId id="263" r:id="rId8"/>
    <p:sldId id="264" r:id="rId9"/>
    <p:sldId id="268" r:id="rId10"/>
    <p:sldId id="269" r:id="rId11"/>
    <p:sldId id="270"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48" autoAdjust="0"/>
  </p:normalViewPr>
  <p:slideViewPr>
    <p:cSldViewPr snapToGrid="0" snapToObjects="1">
      <p:cViewPr varScale="1">
        <p:scale>
          <a:sx n="130" d="100"/>
          <a:sy n="130" d="100"/>
        </p:scale>
        <p:origin x="82" y="187"/>
      </p:cViewPr>
      <p:guideLst/>
    </p:cSldViewPr>
  </p:slideViewPr>
  <p:notesTextViewPr>
    <p:cViewPr>
      <p:scale>
        <a:sx n="1" d="1"/>
        <a:sy n="1" d="1"/>
      </p:scale>
      <p:origin x="0" y="-11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40963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Hello everyone. Today, I will be presenting a comprehensive analysis on predicting real estate values in California using Machine Learning.</a:t>
            </a:r>
          </a:p>
          <a:p>
            <a:r>
              <a:rPr lang="en-US" sz="1200" b="0" i="0" kern="1200" dirty="0">
                <a:solidFill>
                  <a:schemeClr val="tx1"/>
                </a:solidFill>
                <a:effectLst/>
                <a:latin typeface="+mn-lt"/>
                <a:ea typeface="+mn-ea"/>
                <a:cs typeface="+mn-cs"/>
              </a:rPr>
              <a:t>Our goal was to build a regression model capable of estimating median house values across 20,640 districts. We moved through the full data science lifecycle—from preprocessing and feature engineering to model comparison—to identify the key drivers of property value and achieve optimal predictive performance."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"Before diving into the data, it is important to understand the challenges we faced. Predicting housing prices is complex due to multiple influencing factors like location and condition, alongside market volatility driven by interest rates and inflation.</a:t>
            </a:r>
          </a:p>
          <a:p>
            <a:r>
              <a:rPr lang="en-US" sz="1200" b="0" i="0" kern="1200" dirty="0">
                <a:solidFill>
                  <a:schemeClr val="tx1"/>
                </a:solidFill>
                <a:effectLst/>
                <a:latin typeface="+mn-lt"/>
                <a:ea typeface="+mn-ea"/>
                <a:cs typeface="+mn-cs"/>
              </a:rPr>
              <a:t>Additionally, we were working with a dataset that had limited features per property, making feature engineering critical. Our analysis is based on the California Census data, covering over 20,000 districts with diverse attributes."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"Our objective was clear: build and evaluate regression models to accurately predict median house values.</a:t>
            </a:r>
          </a:p>
          <a:p>
            <a:r>
              <a:rPr lang="en-US" sz="1200" b="0" i="0" kern="1200" dirty="0">
                <a:solidFill>
                  <a:schemeClr val="tx1"/>
                </a:solidFill>
                <a:effectLst/>
                <a:latin typeface="+mn-lt"/>
                <a:ea typeface="+mn-ea"/>
                <a:cs typeface="+mn-cs"/>
              </a:rPr>
              <a:t>Here is a snapshot of our dataset. We analyzed 20,640 districts, focusing on a target variable ranging from $15,000 to $500,000. The data had very few missing values—only about 0.1%. Our key focus areas throughout this project were rigorous data preprocessing, creating meaningful features, and comparing models to ensure the best performance."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"During our exploratory analysis, we uncovered a critical finding. Looking at the distribution of house values, we noticed a massive spike at the $500,000 mark.</a:t>
            </a:r>
          </a:p>
          <a:p>
            <a:r>
              <a:rPr lang="en-US" sz="1200" b="0" i="0" kern="1200" dirty="0">
                <a:solidFill>
                  <a:schemeClr val="tx1"/>
                </a:solidFill>
                <a:effectLst/>
                <a:latin typeface="+mn-lt"/>
                <a:ea typeface="+mn-ea"/>
                <a:cs typeface="+mn-cs"/>
              </a:rPr>
              <a:t>This indicates a data cap. Values above $500,000 were likely compressed into this upper limit. This affects approximately 800 districts and poses a limitation: our model will struggle to accurately predict luxury home prices because the training data is artificially truncated at this ceiling."</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"Next, we looked at geography. As you can see from this visualization, location is a major price determinant. The color represents price—moving from blue (lower) to red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"To prepare the data for modeling, we performed several preprocessing steps: we handled the 207 missing values, applied One-Hot Encoding to the '</a:t>
            </a:r>
            <a:r>
              <a:rPr lang="en-US" sz="1200" b="0" i="0" kern="1200" dirty="0" err="1">
                <a:solidFill>
                  <a:schemeClr val="tx1"/>
                </a:solidFill>
                <a:effectLst/>
                <a:latin typeface="+mn-lt"/>
                <a:ea typeface="+mn-ea"/>
                <a:cs typeface="+mn-cs"/>
              </a:rPr>
              <a:t>ocean_proximity</a:t>
            </a:r>
            <a:r>
              <a:rPr lang="en-US" sz="1200" b="0" i="0" kern="1200" dirty="0">
                <a:solidFill>
                  <a:schemeClr val="tx1"/>
                </a:solidFill>
                <a:effectLst/>
                <a:latin typeface="+mn-lt"/>
                <a:ea typeface="+mn-ea"/>
                <a:cs typeface="+mn-cs"/>
              </a:rPr>
              <a:t>' category, and scaled our features.</a:t>
            </a:r>
          </a:p>
          <a:p>
            <a:r>
              <a:rPr lang="en-US" sz="1200" b="0" i="0" kern="1200" dirty="0">
                <a:solidFill>
                  <a:schemeClr val="tx1"/>
                </a:solidFill>
                <a:effectLst/>
                <a:latin typeface="+mn-lt"/>
                <a:ea typeface="+mn-ea"/>
                <a:cs typeface="+mn-cs"/>
              </a:rPr>
              <a:t>Crucially, we applied Feature Engineering. Raw counts like 'total rooms' aren't very useful on their own. Instead, we created ratios—such as 'rooms per household' and 'bedrooms per room.' These engineered features provide much better insight into property density and layout, significantly improving the model's interpretability."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"We compared several regression algorithms. The clear winner was the Random Forest Regressor.</a:t>
            </a:r>
          </a:p>
          <a:p>
            <a:r>
              <a:rPr lang="en-US" sz="1200" b="0" i="0" kern="1200" dirty="0">
                <a:solidFill>
                  <a:schemeClr val="tx1"/>
                </a:solidFill>
                <a:effectLst/>
                <a:latin typeface="+mn-lt"/>
                <a:ea typeface="+mn-ea"/>
                <a:cs typeface="+mn-cs"/>
              </a:rPr>
              <a:t>While linear models provided a baseline, the Random Forest achieved an R² score of roughly </a:t>
            </a:r>
            <a:r>
              <a:rPr lang="en-US" dirty="0">
                <a:solidFill>
                  <a:schemeClr val="accent6">
                    <a:lumMod val="75000"/>
                  </a:schemeClr>
                </a:solidFill>
              </a:rPr>
              <a:t>0.77</a:t>
            </a:r>
            <a:r>
              <a:rPr lang="en-US" sz="1200" b="0" i="0" kern="1200" dirty="0">
                <a:solidFill>
                  <a:schemeClr val="tx1"/>
                </a:solidFill>
                <a:effectLst/>
                <a:latin typeface="+mn-lt"/>
                <a:ea typeface="+mn-ea"/>
                <a:cs typeface="+mn-cs"/>
              </a:rPr>
              <a:t>. This means the model explains about </a:t>
            </a:r>
            <a:r>
              <a:rPr lang="en-US" dirty="0">
                <a:solidFill>
                  <a:schemeClr val="accent6">
                    <a:lumMod val="75000"/>
                  </a:schemeClr>
                </a:solidFill>
              </a:rPr>
              <a:t>77</a:t>
            </a:r>
            <a:r>
              <a:rPr lang="en-US" sz="1200" b="0" i="0" kern="1200" dirty="0">
                <a:solidFill>
                  <a:schemeClr val="tx1"/>
                </a:solidFill>
                <a:effectLst/>
                <a:latin typeface="+mn-lt"/>
                <a:ea typeface="+mn-ea"/>
                <a:cs typeface="+mn-cs"/>
              </a:rPr>
              <a:t>% of the variance in housing prices. Ensemble methods like Random Forest and Gradient Boosting significantly outperformed linear models because they could capture the non-linear relationships inherent in real estate data."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"To take this project from analysis to production, we have several recommendations.</a:t>
            </a:r>
          </a:p>
          <a:p>
            <a:r>
              <a:rPr lang="en-US" sz="1200" b="0" i="0" kern="1200" dirty="0">
                <a:solidFill>
                  <a:schemeClr val="tx1"/>
                </a:solidFill>
                <a:effectLst/>
                <a:latin typeface="+mn-lt"/>
                <a:ea typeface="+mn-ea"/>
                <a:cs typeface="+mn-cs"/>
              </a:rPr>
              <a:t>High Priority: We need to address the $500k data cap, either by obtaining uncensored data or simulating values, to improve luxury predictions. We also recommend Hyperparameter Tuning using </a:t>
            </a:r>
            <a:r>
              <a:rPr lang="en-US" sz="1200" b="0" i="0" kern="1200" dirty="0" err="1">
                <a:solidFill>
                  <a:schemeClr val="tx1"/>
                </a:solidFill>
                <a:effectLst/>
                <a:latin typeface="+mn-lt"/>
                <a:ea typeface="+mn-ea"/>
                <a:cs typeface="+mn-cs"/>
              </a:rPr>
              <a:t>GridSearchCV</a:t>
            </a:r>
            <a:r>
              <a:rPr lang="en-US" sz="1200" b="0" i="0" kern="1200" dirty="0">
                <a:solidFill>
                  <a:schemeClr val="tx1"/>
                </a:solidFill>
                <a:effectLst/>
                <a:latin typeface="+mn-lt"/>
                <a:ea typeface="+mn-ea"/>
                <a:cs typeface="+mn-cs"/>
              </a:rPr>
              <a:t> to squeeze out extra performance.</a:t>
            </a:r>
          </a:p>
          <a:p>
            <a:r>
              <a:rPr lang="en-US" sz="1200" b="0" i="0" kern="1200" dirty="0">
                <a:solidFill>
                  <a:schemeClr val="tx1"/>
                </a:solidFill>
                <a:effectLst/>
                <a:latin typeface="+mn-lt"/>
                <a:ea typeface="+mn-ea"/>
                <a:cs typeface="+mn-cs"/>
              </a:rPr>
              <a:t>Medium Priority: We should implement Cross-Validation for robustness and incorporate external data like school ratings or crime rates to further refine accuracy."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"In conclusion, this project demonstrates a robust end-to-end Machine Learning pipeline.</a:t>
            </a:r>
          </a:p>
          <a:p>
            <a:r>
              <a:rPr lang="en-US" sz="1200" b="0" i="0" kern="1200" dirty="0">
                <a:solidFill>
                  <a:schemeClr val="tx1"/>
                </a:solidFill>
                <a:effectLst/>
                <a:latin typeface="+mn-lt"/>
                <a:ea typeface="+mn-ea"/>
                <a:cs typeface="+mn-cs"/>
              </a:rPr>
              <a:t>We successfully built a model that predicts California housing prices with strong accuracy (R² = 0.77). We validated that income and location are the primary drivers of value, and we implemented professional feature engineering to maximize insight.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B85042"/>
        </a:solidFill>
        <a:effectLst/>
      </p:bgPr>
    </p:bg>
    <p:spTree>
      <p:nvGrpSpPr>
        <p:cNvPr id="1" name=""/>
        <p:cNvGrpSpPr/>
        <p:nvPr/>
      </p:nvGrpSpPr>
      <p:grpSpPr>
        <a:xfrm>
          <a:off x="0" y="0"/>
          <a:ext cx="0" cy="0"/>
          <a:chOff x="0" y="0"/>
          <a:chExt cx="0" cy="0"/>
        </a:xfrm>
      </p:grpSpPr>
      <p:sp>
        <p:nvSpPr>
          <p:cNvPr id="2" name="Text 0"/>
          <p:cNvSpPr/>
          <p:nvPr/>
        </p:nvSpPr>
        <p:spPr>
          <a:xfrm>
            <a:off x="457200" y="1463040"/>
            <a:ext cx="8229600" cy="1280160"/>
          </a:xfrm>
          <a:prstGeom prst="rect">
            <a:avLst/>
          </a:prstGeom>
          <a:noFill/>
          <a:ln/>
        </p:spPr>
        <p:txBody>
          <a:bodyPr wrap="square" rtlCol="0" anchor="ctr"/>
          <a:lstStyle/>
          <a:p>
            <a:pPr marL="0" indent="0" algn="ctr">
              <a:buNone/>
            </a:pPr>
            <a:r>
              <a:rPr lang="en-US" sz="5400" b="1" dirty="0">
                <a:solidFill>
                  <a:srgbClr val="FFFFFF"/>
                </a:solidFill>
                <a:latin typeface="Georgia" pitchFamily="34" charset="0"/>
                <a:ea typeface="Georgia" pitchFamily="34" charset="-122"/>
                <a:cs typeface="Georgia" pitchFamily="34" charset="-120"/>
              </a:rPr>
              <a:t>California Housing</a:t>
            </a:r>
            <a:endParaRPr lang="en-US" sz="5400" dirty="0"/>
          </a:p>
          <a:p>
            <a:pPr marL="0" indent="0" algn="ctr">
              <a:buNone/>
            </a:pPr>
            <a:r>
              <a:rPr lang="en-US" sz="5400" b="1" dirty="0">
                <a:solidFill>
                  <a:srgbClr val="FFFFFF"/>
                </a:solidFill>
                <a:latin typeface="Georgia" pitchFamily="34" charset="0"/>
                <a:ea typeface="Georgia" pitchFamily="34" charset="-122"/>
                <a:cs typeface="Georgia" pitchFamily="34" charset="-120"/>
              </a:rPr>
              <a:t>Price Prediction</a:t>
            </a:r>
            <a:endParaRPr lang="en-US" sz="5400" dirty="0"/>
          </a:p>
        </p:txBody>
      </p:sp>
      <p:sp>
        <p:nvSpPr>
          <p:cNvPr id="3" name="Text 1"/>
          <p:cNvSpPr/>
          <p:nvPr/>
        </p:nvSpPr>
        <p:spPr>
          <a:xfrm>
            <a:off x="457200" y="2926080"/>
            <a:ext cx="8229600" cy="457200"/>
          </a:xfrm>
          <a:prstGeom prst="rect">
            <a:avLst/>
          </a:prstGeom>
          <a:noFill/>
          <a:ln/>
        </p:spPr>
        <p:txBody>
          <a:bodyPr wrap="square" rtlCol="0" anchor="ctr"/>
          <a:lstStyle/>
          <a:p>
            <a:pPr marL="0" indent="0" algn="ctr">
              <a:buNone/>
            </a:pPr>
            <a:r>
              <a:rPr lang="en-US" sz="2400" i="1" dirty="0">
                <a:solidFill>
                  <a:srgbClr val="E7E8D1"/>
                </a:solidFill>
                <a:latin typeface="Calibri" pitchFamily="34" charset="0"/>
                <a:ea typeface="Calibri" pitchFamily="34" charset="-122"/>
                <a:cs typeface="Calibri" pitchFamily="34" charset="-120"/>
              </a:rPr>
              <a:t>Predicting Real Estate Values using Machine Learning</a:t>
            </a:r>
            <a:endParaRPr lang="en-US" sz="2400" dirty="0"/>
          </a:p>
        </p:txBody>
      </p:sp>
      <p:sp>
        <p:nvSpPr>
          <p:cNvPr id="4" name="Shape 2"/>
          <p:cNvSpPr/>
          <p:nvPr/>
        </p:nvSpPr>
        <p:spPr>
          <a:xfrm>
            <a:off x="3200400" y="3566160"/>
            <a:ext cx="2743200" cy="45720"/>
          </a:xfrm>
          <a:prstGeom prst="rect">
            <a:avLst/>
          </a:prstGeom>
          <a:solidFill>
            <a:srgbClr val="E7E8D1"/>
          </a:solidFill>
          <a:ln/>
        </p:spPr>
        <p:txBody>
          <a:bodyPr/>
          <a:lstStyle/>
          <a:p>
            <a:endParaRPr lang="en-US"/>
          </a:p>
        </p:txBody>
      </p:sp>
      <p:sp>
        <p:nvSpPr>
          <p:cNvPr id="5" name="Text 3"/>
          <p:cNvSpPr/>
          <p:nvPr/>
        </p:nvSpPr>
        <p:spPr>
          <a:xfrm>
            <a:off x="457200" y="4023360"/>
            <a:ext cx="8229600" cy="365760"/>
          </a:xfrm>
          <a:prstGeom prst="rect">
            <a:avLst/>
          </a:prstGeom>
          <a:noFill/>
          <a:ln/>
        </p:spPr>
        <p:txBody>
          <a:bodyPr wrap="square" rtlCol="0" anchor="ctr"/>
          <a:lstStyle/>
          <a:p>
            <a:pPr marL="0" indent="0" algn="ctr">
              <a:buNone/>
            </a:pPr>
            <a:r>
              <a:rPr lang="en-US" sz="1500" dirty="0">
                <a:solidFill>
                  <a:srgbClr val="FFFFFF"/>
                </a:solidFill>
                <a:latin typeface="Calibri" pitchFamily="34" charset="0"/>
                <a:ea typeface="Calibri" pitchFamily="34" charset="-122"/>
                <a:cs typeface="Calibri" pitchFamily="34" charset="-120"/>
              </a:rPr>
              <a:t>Comprehensive ML Regression Analysis | 20,640 Districts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5F5F5"/>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marL="0" indent="0">
              <a:buNone/>
            </a:pPr>
            <a:r>
              <a:rPr lang="en-US" sz="4000" b="1" dirty="0">
                <a:solidFill>
                  <a:srgbClr val="B85042"/>
                </a:solidFill>
                <a:latin typeface="Georgia" pitchFamily="34" charset="0"/>
                <a:ea typeface="Georgia" pitchFamily="34" charset="-122"/>
                <a:cs typeface="Georgia" pitchFamily="34" charset="-120"/>
              </a:rPr>
              <a:t>Problem Statement</a:t>
            </a:r>
            <a:endParaRPr lang="en-US" sz="4000" dirty="0"/>
          </a:p>
        </p:txBody>
      </p:sp>
      <p:sp>
        <p:nvSpPr>
          <p:cNvPr id="3" name="Shape 1"/>
          <p:cNvSpPr/>
          <p:nvPr/>
        </p:nvSpPr>
        <p:spPr>
          <a:xfrm>
            <a:off x="457200" y="960120"/>
            <a:ext cx="2286000" cy="73152"/>
          </a:xfrm>
          <a:prstGeom prst="rect">
            <a:avLst/>
          </a:prstGeom>
          <a:solidFill>
            <a:srgbClr val="A7BEAE"/>
          </a:solidFill>
          <a:ln/>
        </p:spPr>
        <p:txBody>
          <a:bodyPr/>
          <a:lstStyle/>
          <a:p>
            <a:endParaRPr lang="en-US"/>
          </a:p>
        </p:txBody>
      </p:sp>
      <p:sp>
        <p:nvSpPr>
          <p:cNvPr id="4" name="Shape 2"/>
          <p:cNvSpPr/>
          <p:nvPr/>
        </p:nvSpPr>
        <p:spPr>
          <a:xfrm>
            <a:off x="640080" y="1371600"/>
            <a:ext cx="7863840" cy="685800"/>
          </a:xfrm>
          <a:prstGeom prst="rect">
            <a:avLst/>
          </a:prstGeom>
          <a:solidFill>
            <a:srgbClr val="FFFFFF"/>
          </a:solidFill>
          <a:ln w="25400">
            <a:solidFill>
              <a:srgbClr val="B85042"/>
            </a:solidFill>
            <a:prstDash val="solid"/>
          </a:ln>
        </p:spPr>
        <p:txBody>
          <a:bodyPr/>
          <a:lstStyle/>
          <a:p>
            <a:endParaRPr lang="en-US"/>
          </a:p>
        </p:txBody>
      </p:sp>
      <p:sp>
        <p:nvSpPr>
          <p:cNvPr id="5" name="Shape 3"/>
          <p:cNvSpPr/>
          <p:nvPr/>
        </p:nvSpPr>
        <p:spPr>
          <a:xfrm>
            <a:off x="777240" y="1481328"/>
            <a:ext cx="457200" cy="457200"/>
          </a:xfrm>
          <a:prstGeom prst="ellipse">
            <a:avLst/>
          </a:prstGeom>
          <a:solidFill>
            <a:srgbClr val="B85042"/>
          </a:solidFill>
          <a:ln/>
        </p:spPr>
        <p:txBody>
          <a:bodyPr/>
          <a:lstStyle/>
          <a:p>
            <a:endParaRPr lang="en-US"/>
          </a:p>
        </p:txBody>
      </p:sp>
      <p:sp>
        <p:nvSpPr>
          <p:cNvPr id="6" name="Text 4"/>
          <p:cNvSpPr/>
          <p:nvPr/>
        </p:nvSpPr>
        <p:spPr>
          <a:xfrm>
            <a:off x="777240" y="1481328"/>
            <a:ext cx="457200" cy="45720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7" name="Text 5"/>
          <p:cNvSpPr/>
          <p:nvPr/>
        </p:nvSpPr>
        <p:spPr>
          <a:xfrm>
            <a:off x="1371600" y="1444752"/>
            <a:ext cx="6858000" cy="274320"/>
          </a:xfrm>
          <a:prstGeom prst="rect">
            <a:avLst/>
          </a:prstGeom>
          <a:noFill/>
          <a:ln/>
        </p:spPr>
        <p:txBody>
          <a:bodyPr wrap="square" rtlCol="0" anchor="ctr"/>
          <a:lstStyle/>
          <a:p>
            <a:pPr marL="0" indent="0">
              <a:buNone/>
            </a:pPr>
            <a:r>
              <a:rPr lang="en-US" sz="1600" b="1" dirty="0">
                <a:solidFill>
                  <a:srgbClr val="B85042"/>
                </a:solidFill>
                <a:latin typeface="Georgia" pitchFamily="34" charset="0"/>
                <a:ea typeface="Georgia" pitchFamily="34" charset="-122"/>
                <a:cs typeface="Georgia" pitchFamily="34" charset="-120"/>
              </a:rPr>
              <a:t>Multiple Influencing Factors</a:t>
            </a:r>
            <a:endParaRPr lang="en-US" sz="1600" dirty="0"/>
          </a:p>
        </p:txBody>
      </p:sp>
      <p:sp>
        <p:nvSpPr>
          <p:cNvPr id="8" name="Text 6"/>
          <p:cNvSpPr/>
          <p:nvPr/>
        </p:nvSpPr>
        <p:spPr>
          <a:xfrm>
            <a:off x="1371600" y="1755648"/>
            <a:ext cx="6858000" cy="256032"/>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Property values affected by location, size, condition, time - factors vary substantially between properties</a:t>
            </a:r>
            <a:endParaRPr lang="en-US" sz="1300" dirty="0"/>
          </a:p>
        </p:txBody>
      </p:sp>
      <p:sp>
        <p:nvSpPr>
          <p:cNvPr id="9" name="Shape 7"/>
          <p:cNvSpPr/>
          <p:nvPr/>
        </p:nvSpPr>
        <p:spPr>
          <a:xfrm>
            <a:off x="640080" y="2148840"/>
            <a:ext cx="7863840" cy="685800"/>
          </a:xfrm>
          <a:prstGeom prst="rect">
            <a:avLst/>
          </a:prstGeom>
          <a:solidFill>
            <a:srgbClr val="FFFFFF"/>
          </a:solidFill>
          <a:ln w="25400">
            <a:solidFill>
              <a:srgbClr val="B85042"/>
            </a:solidFill>
            <a:prstDash val="solid"/>
          </a:ln>
        </p:spPr>
        <p:txBody>
          <a:bodyPr/>
          <a:lstStyle/>
          <a:p>
            <a:endParaRPr lang="en-US"/>
          </a:p>
        </p:txBody>
      </p:sp>
      <p:sp>
        <p:nvSpPr>
          <p:cNvPr id="10" name="Shape 8"/>
          <p:cNvSpPr/>
          <p:nvPr/>
        </p:nvSpPr>
        <p:spPr>
          <a:xfrm>
            <a:off x="777240" y="2258568"/>
            <a:ext cx="457200" cy="457200"/>
          </a:xfrm>
          <a:prstGeom prst="ellipse">
            <a:avLst/>
          </a:prstGeom>
          <a:solidFill>
            <a:srgbClr val="B85042"/>
          </a:solidFill>
          <a:ln/>
        </p:spPr>
        <p:txBody>
          <a:bodyPr/>
          <a:lstStyle/>
          <a:p>
            <a:endParaRPr lang="en-US"/>
          </a:p>
        </p:txBody>
      </p:sp>
      <p:sp>
        <p:nvSpPr>
          <p:cNvPr id="11" name="Text 9"/>
          <p:cNvSpPr/>
          <p:nvPr/>
        </p:nvSpPr>
        <p:spPr>
          <a:xfrm>
            <a:off x="777240" y="2258568"/>
            <a:ext cx="457200" cy="45720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2" name="Text 10"/>
          <p:cNvSpPr/>
          <p:nvPr/>
        </p:nvSpPr>
        <p:spPr>
          <a:xfrm>
            <a:off x="1371600" y="2221992"/>
            <a:ext cx="6858000" cy="274320"/>
          </a:xfrm>
          <a:prstGeom prst="rect">
            <a:avLst/>
          </a:prstGeom>
          <a:noFill/>
          <a:ln/>
        </p:spPr>
        <p:txBody>
          <a:bodyPr wrap="square" rtlCol="0" anchor="ctr"/>
          <a:lstStyle/>
          <a:p>
            <a:pPr marL="0" indent="0">
              <a:buNone/>
            </a:pPr>
            <a:r>
              <a:rPr lang="en-US" sz="1600" b="1" dirty="0">
                <a:solidFill>
                  <a:srgbClr val="B85042"/>
                </a:solidFill>
                <a:latin typeface="Georgia" pitchFamily="34" charset="0"/>
                <a:ea typeface="Georgia" pitchFamily="34" charset="-122"/>
                <a:cs typeface="Georgia" pitchFamily="34" charset="-120"/>
              </a:rPr>
              <a:t>Market Volatility</a:t>
            </a:r>
            <a:endParaRPr lang="en-US" sz="1600" dirty="0"/>
          </a:p>
        </p:txBody>
      </p:sp>
      <p:sp>
        <p:nvSpPr>
          <p:cNvPr id="13" name="Text 11"/>
          <p:cNvSpPr/>
          <p:nvPr/>
        </p:nvSpPr>
        <p:spPr>
          <a:xfrm>
            <a:off x="1371600" y="2532888"/>
            <a:ext cx="6858000" cy="256032"/>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Housing market depends on demand/supply fluctuations, interest rates, and inflation - challenging price prediction over time</a:t>
            </a:r>
            <a:endParaRPr lang="en-US" sz="1300" dirty="0"/>
          </a:p>
        </p:txBody>
      </p:sp>
      <p:sp>
        <p:nvSpPr>
          <p:cNvPr id="14" name="Shape 12"/>
          <p:cNvSpPr/>
          <p:nvPr/>
        </p:nvSpPr>
        <p:spPr>
          <a:xfrm>
            <a:off x="640080" y="2926080"/>
            <a:ext cx="7863840" cy="685800"/>
          </a:xfrm>
          <a:prstGeom prst="rect">
            <a:avLst/>
          </a:prstGeom>
          <a:solidFill>
            <a:srgbClr val="FFFFFF"/>
          </a:solidFill>
          <a:ln w="25400">
            <a:solidFill>
              <a:srgbClr val="B85042"/>
            </a:solidFill>
            <a:prstDash val="solid"/>
          </a:ln>
        </p:spPr>
        <p:txBody>
          <a:bodyPr/>
          <a:lstStyle/>
          <a:p>
            <a:endParaRPr lang="en-US"/>
          </a:p>
        </p:txBody>
      </p:sp>
      <p:sp>
        <p:nvSpPr>
          <p:cNvPr id="15" name="Shape 13"/>
          <p:cNvSpPr/>
          <p:nvPr/>
        </p:nvSpPr>
        <p:spPr>
          <a:xfrm>
            <a:off x="777240" y="3035808"/>
            <a:ext cx="457200" cy="457200"/>
          </a:xfrm>
          <a:prstGeom prst="ellipse">
            <a:avLst/>
          </a:prstGeom>
          <a:solidFill>
            <a:srgbClr val="B85042"/>
          </a:solidFill>
          <a:ln/>
        </p:spPr>
        <p:txBody>
          <a:bodyPr/>
          <a:lstStyle/>
          <a:p>
            <a:endParaRPr lang="en-US"/>
          </a:p>
        </p:txBody>
      </p:sp>
      <p:sp>
        <p:nvSpPr>
          <p:cNvPr id="16" name="Text 14"/>
          <p:cNvSpPr/>
          <p:nvPr/>
        </p:nvSpPr>
        <p:spPr>
          <a:xfrm>
            <a:off x="777240" y="3035808"/>
            <a:ext cx="457200" cy="45720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7" name="Text 15"/>
          <p:cNvSpPr/>
          <p:nvPr/>
        </p:nvSpPr>
        <p:spPr>
          <a:xfrm>
            <a:off x="1371600" y="2999232"/>
            <a:ext cx="6858000" cy="274320"/>
          </a:xfrm>
          <a:prstGeom prst="rect">
            <a:avLst/>
          </a:prstGeom>
          <a:noFill/>
          <a:ln/>
        </p:spPr>
        <p:txBody>
          <a:bodyPr wrap="square" rtlCol="0" anchor="ctr"/>
          <a:lstStyle/>
          <a:p>
            <a:pPr marL="0" indent="0">
              <a:buNone/>
            </a:pPr>
            <a:r>
              <a:rPr lang="en-US" sz="1600" b="1" dirty="0">
                <a:solidFill>
                  <a:srgbClr val="B85042"/>
                </a:solidFill>
                <a:latin typeface="Georgia" pitchFamily="34" charset="0"/>
                <a:ea typeface="Georgia" pitchFamily="34" charset="-122"/>
                <a:cs typeface="Georgia" pitchFamily="34" charset="-120"/>
              </a:rPr>
              <a:t>Limited Data Features</a:t>
            </a:r>
            <a:endParaRPr lang="en-US" sz="1600" dirty="0"/>
          </a:p>
        </p:txBody>
      </p:sp>
      <p:sp>
        <p:nvSpPr>
          <p:cNvPr id="18" name="Text 16"/>
          <p:cNvSpPr/>
          <p:nvPr/>
        </p:nvSpPr>
        <p:spPr>
          <a:xfrm>
            <a:off x="1371600" y="3310128"/>
            <a:ext cx="6858000" cy="256032"/>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Datasets contain limited features per property, making feature engineering critically important</a:t>
            </a:r>
            <a:endParaRPr lang="en-US" sz="1300" dirty="0"/>
          </a:p>
        </p:txBody>
      </p:sp>
      <p:sp>
        <p:nvSpPr>
          <p:cNvPr id="19" name="Shape 17"/>
          <p:cNvSpPr/>
          <p:nvPr/>
        </p:nvSpPr>
        <p:spPr>
          <a:xfrm>
            <a:off x="640080" y="3703320"/>
            <a:ext cx="7863840" cy="685800"/>
          </a:xfrm>
          <a:prstGeom prst="rect">
            <a:avLst/>
          </a:prstGeom>
          <a:solidFill>
            <a:srgbClr val="FFFFFF"/>
          </a:solidFill>
          <a:ln w="25400">
            <a:solidFill>
              <a:srgbClr val="B85042"/>
            </a:solidFill>
            <a:prstDash val="solid"/>
          </a:ln>
        </p:spPr>
        <p:txBody>
          <a:bodyPr/>
          <a:lstStyle/>
          <a:p>
            <a:endParaRPr lang="en-US"/>
          </a:p>
        </p:txBody>
      </p:sp>
      <p:sp>
        <p:nvSpPr>
          <p:cNvPr id="20" name="Shape 18"/>
          <p:cNvSpPr/>
          <p:nvPr/>
        </p:nvSpPr>
        <p:spPr>
          <a:xfrm>
            <a:off x="777240" y="3813048"/>
            <a:ext cx="457200" cy="457200"/>
          </a:xfrm>
          <a:prstGeom prst="ellipse">
            <a:avLst/>
          </a:prstGeom>
          <a:solidFill>
            <a:srgbClr val="B85042"/>
          </a:solidFill>
          <a:ln/>
        </p:spPr>
        <p:txBody>
          <a:bodyPr/>
          <a:lstStyle/>
          <a:p>
            <a:endParaRPr lang="en-US"/>
          </a:p>
        </p:txBody>
      </p:sp>
      <p:sp>
        <p:nvSpPr>
          <p:cNvPr id="21" name="Text 19"/>
          <p:cNvSpPr/>
          <p:nvPr/>
        </p:nvSpPr>
        <p:spPr>
          <a:xfrm>
            <a:off x="777240" y="3813048"/>
            <a:ext cx="457200" cy="457200"/>
          </a:xfrm>
          <a:prstGeom prst="rect">
            <a:avLst/>
          </a:prstGeom>
          <a:noFill/>
          <a:ln/>
        </p:spPr>
        <p:txBody>
          <a:bodyPr wrap="square" rtlCol="0" anchor="ctr"/>
          <a:lstStyle/>
          <a:p>
            <a:pPr marL="0" indent="0" algn="ctr">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22" name="Text 20"/>
          <p:cNvSpPr/>
          <p:nvPr/>
        </p:nvSpPr>
        <p:spPr>
          <a:xfrm>
            <a:off x="1371600" y="3776472"/>
            <a:ext cx="6858000" cy="274320"/>
          </a:xfrm>
          <a:prstGeom prst="rect">
            <a:avLst/>
          </a:prstGeom>
          <a:noFill/>
          <a:ln/>
        </p:spPr>
        <p:txBody>
          <a:bodyPr wrap="square" rtlCol="0" anchor="ctr"/>
          <a:lstStyle/>
          <a:p>
            <a:pPr marL="0" indent="0">
              <a:buNone/>
            </a:pPr>
            <a:r>
              <a:rPr lang="en-US" sz="1600" b="1" dirty="0">
                <a:solidFill>
                  <a:srgbClr val="B85042"/>
                </a:solidFill>
                <a:latin typeface="Georgia" pitchFamily="34" charset="0"/>
                <a:ea typeface="Georgia" pitchFamily="34" charset="-122"/>
                <a:cs typeface="Georgia" pitchFamily="34" charset="-120"/>
              </a:rPr>
              <a:t>Dataset Context</a:t>
            </a:r>
            <a:endParaRPr lang="en-US" sz="1600" dirty="0"/>
          </a:p>
        </p:txBody>
      </p:sp>
      <p:sp>
        <p:nvSpPr>
          <p:cNvPr id="23" name="Text 21"/>
          <p:cNvSpPr/>
          <p:nvPr/>
        </p:nvSpPr>
        <p:spPr>
          <a:xfrm>
            <a:off x="1371600" y="4087368"/>
            <a:ext cx="6858000" cy="256032"/>
          </a:xfrm>
          <a:prstGeom prst="rect">
            <a:avLst/>
          </a:prstGeom>
          <a:noFill/>
          <a:ln/>
        </p:spPr>
        <p:txBody>
          <a:bodyPr wrap="square" rtlCol="0" anchor="ctr"/>
          <a:lstStyle/>
          <a:p>
            <a:pPr marL="0" indent="0">
              <a:buNone/>
            </a:pPr>
            <a:r>
              <a:rPr lang="en-US" sz="1300" dirty="0">
                <a:solidFill>
                  <a:srgbClr val="2C3E50"/>
                </a:solidFill>
                <a:latin typeface="Calibri" pitchFamily="34" charset="0"/>
                <a:ea typeface="Calibri" pitchFamily="34" charset="-122"/>
                <a:cs typeface="Calibri" pitchFamily="34" charset="-120"/>
              </a:rPr>
              <a:t>California housing dataset (1990 Census) with 20,640 districts and diverse house-related attributes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5F5F5"/>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marL="0" indent="0">
              <a:buNone/>
            </a:pPr>
            <a:r>
              <a:rPr lang="en-US" sz="4000" b="1" dirty="0">
                <a:solidFill>
                  <a:srgbClr val="B85042"/>
                </a:solidFill>
                <a:latin typeface="Georgia" pitchFamily="34" charset="0"/>
                <a:ea typeface="Georgia" pitchFamily="34" charset="-122"/>
                <a:cs typeface="Georgia" pitchFamily="34" charset="-120"/>
              </a:rPr>
              <a:t>Study Aim &amp; Dataset Overview</a:t>
            </a:r>
            <a:endParaRPr lang="en-US" sz="4000" dirty="0"/>
          </a:p>
        </p:txBody>
      </p:sp>
      <p:sp>
        <p:nvSpPr>
          <p:cNvPr id="3" name="Shape 1"/>
          <p:cNvSpPr/>
          <p:nvPr/>
        </p:nvSpPr>
        <p:spPr>
          <a:xfrm>
            <a:off x="457200" y="960120"/>
            <a:ext cx="2926080" cy="73152"/>
          </a:xfrm>
          <a:prstGeom prst="rect">
            <a:avLst/>
          </a:prstGeom>
          <a:solidFill>
            <a:srgbClr val="A7BEAE"/>
          </a:solidFill>
          <a:ln/>
        </p:spPr>
        <p:txBody>
          <a:bodyPr/>
          <a:lstStyle/>
          <a:p>
            <a:endParaRPr lang="en-US"/>
          </a:p>
        </p:txBody>
      </p:sp>
      <p:sp>
        <p:nvSpPr>
          <p:cNvPr id="4" name="Shape 2"/>
          <p:cNvSpPr/>
          <p:nvPr/>
        </p:nvSpPr>
        <p:spPr>
          <a:xfrm>
            <a:off x="640080" y="1371600"/>
            <a:ext cx="3931920" cy="3200400"/>
          </a:xfrm>
          <a:prstGeom prst="rect">
            <a:avLst/>
          </a:prstGeom>
          <a:solidFill>
            <a:srgbClr val="E7E8D1"/>
          </a:solidFill>
          <a:ln w="25400">
            <a:solidFill>
              <a:srgbClr val="B85042"/>
            </a:solidFill>
            <a:prstDash val="solid"/>
          </a:ln>
        </p:spPr>
        <p:txBody>
          <a:bodyPr/>
          <a:lstStyle/>
          <a:p>
            <a:endParaRPr lang="en-US"/>
          </a:p>
        </p:txBody>
      </p:sp>
      <p:sp>
        <p:nvSpPr>
          <p:cNvPr id="5" name="Text 3"/>
          <p:cNvSpPr/>
          <p:nvPr/>
        </p:nvSpPr>
        <p:spPr>
          <a:xfrm>
            <a:off x="822960" y="1554480"/>
            <a:ext cx="3566160" cy="365760"/>
          </a:xfrm>
          <a:prstGeom prst="rect">
            <a:avLst/>
          </a:prstGeom>
          <a:noFill/>
          <a:ln/>
        </p:spPr>
        <p:txBody>
          <a:bodyPr wrap="square" rtlCol="0" anchor="ctr"/>
          <a:lstStyle/>
          <a:p>
            <a:pPr marL="0" indent="0">
              <a:buNone/>
            </a:pPr>
            <a:r>
              <a:rPr lang="en-US" sz="2000" b="1" dirty="0">
                <a:solidFill>
                  <a:srgbClr val="B85042"/>
                </a:solidFill>
                <a:latin typeface="Georgia" pitchFamily="34" charset="0"/>
                <a:ea typeface="Georgia" pitchFamily="34" charset="-122"/>
                <a:cs typeface="Georgia" pitchFamily="34" charset="-120"/>
              </a:rPr>
              <a:t>Study Objective</a:t>
            </a:r>
            <a:endParaRPr lang="en-US" sz="2000" dirty="0"/>
          </a:p>
        </p:txBody>
      </p:sp>
      <p:sp>
        <p:nvSpPr>
          <p:cNvPr id="6" name="Text 4"/>
          <p:cNvSpPr/>
          <p:nvPr/>
        </p:nvSpPr>
        <p:spPr>
          <a:xfrm>
            <a:off x="822960" y="2011680"/>
            <a:ext cx="3566160" cy="2468880"/>
          </a:xfrm>
          <a:prstGeom prst="rect">
            <a:avLst/>
          </a:prstGeom>
          <a:noFill/>
          <a:ln/>
        </p:spPr>
        <p:txBody>
          <a:bodyPr wrap="square" rtlCol="0" anchor="ctr"/>
          <a:lstStyle/>
          <a:p>
            <a:pPr marL="0" indent="0">
              <a:buNone/>
            </a:pPr>
            <a:r>
              <a:rPr lang="en-US" sz="1500" dirty="0">
                <a:solidFill>
                  <a:srgbClr val="2C3E50"/>
                </a:solidFill>
              </a:rPr>
              <a:t>Build and evaluate regression models to predict median house values in California districts</a:t>
            </a:r>
            <a:endParaRPr lang="en-US" sz="1500" dirty="0"/>
          </a:p>
          <a:p>
            <a:pPr marL="0" indent="0">
              <a:buNone/>
            </a:pPr>
            <a:endParaRPr lang="en-US" sz="1500" dirty="0"/>
          </a:p>
          <a:p>
            <a:pPr marL="0" indent="0">
              <a:buNone/>
            </a:pPr>
            <a:r>
              <a:rPr lang="en-US" sz="1600" b="1" dirty="0">
                <a:solidFill>
                  <a:srgbClr val="2C3E50"/>
                </a:solidFill>
              </a:rPr>
              <a:t>Key Focus Areas:</a:t>
            </a:r>
            <a:endParaRPr lang="en-US" sz="1500" dirty="0"/>
          </a:p>
          <a:p>
            <a:pPr marL="0" indent="0">
              <a:buNone/>
            </a:pPr>
            <a:r>
              <a:rPr lang="en-US" sz="1400" dirty="0">
                <a:solidFill>
                  <a:srgbClr val="2C3E50"/>
                </a:solidFill>
              </a:rPr>
              <a:t>✓ Data preprocessing</a:t>
            </a:r>
            <a:endParaRPr lang="en-US" sz="1500" dirty="0"/>
          </a:p>
          <a:p>
            <a:pPr marL="0" indent="0">
              <a:buNone/>
            </a:pPr>
            <a:r>
              <a:rPr lang="en-US" sz="1400" dirty="0">
                <a:solidFill>
                  <a:srgbClr val="2C3E50"/>
                </a:solidFill>
              </a:rPr>
              <a:t>✓ Feature engineering</a:t>
            </a:r>
            <a:endParaRPr lang="en-US" sz="1500" dirty="0"/>
          </a:p>
          <a:p>
            <a:pPr marL="0" indent="0">
              <a:buNone/>
            </a:pPr>
            <a:r>
              <a:rPr lang="en-US" sz="1400" dirty="0">
                <a:solidFill>
                  <a:srgbClr val="2C3E50"/>
                </a:solidFill>
              </a:rPr>
              <a:t>✓ Model comparison</a:t>
            </a:r>
            <a:endParaRPr lang="en-US" sz="1500" dirty="0"/>
          </a:p>
          <a:p>
            <a:pPr marL="0" indent="0">
              <a:buNone/>
            </a:pPr>
            <a:r>
              <a:rPr lang="en-US" sz="1400" dirty="0">
                <a:solidFill>
                  <a:srgbClr val="2C3E50"/>
                </a:solidFill>
              </a:rPr>
              <a:t>✓ Optimal performance</a:t>
            </a:r>
            <a:endParaRPr lang="en-US" sz="1500" dirty="0"/>
          </a:p>
          <a:p>
            <a:pPr marL="0" indent="0">
              <a:buNone/>
            </a:pPr>
            <a:endParaRPr lang="en-US" sz="1500" dirty="0"/>
          </a:p>
          <a:p>
            <a:pPr marL="0" indent="0">
              <a:buNone/>
            </a:pPr>
            <a:r>
              <a:rPr lang="en-US" sz="1300" i="1" dirty="0">
                <a:solidFill>
                  <a:srgbClr val="2C3E50"/>
                </a:solidFill>
              </a:rPr>
              <a:t>Using geographical, demographic, and housing-related features</a:t>
            </a:r>
            <a:endParaRPr lang="en-US" sz="1500" dirty="0"/>
          </a:p>
        </p:txBody>
      </p:sp>
      <p:sp>
        <p:nvSpPr>
          <p:cNvPr id="7" name="Shape 5"/>
          <p:cNvSpPr/>
          <p:nvPr/>
        </p:nvSpPr>
        <p:spPr>
          <a:xfrm>
            <a:off x="4754880" y="1371600"/>
            <a:ext cx="3749040" cy="3200400"/>
          </a:xfrm>
          <a:prstGeom prst="rect">
            <a:avLst/>
          </a:prstGeom>
          <a:solidFill>
            <a:srgbClr val="FFFFFF"/>
          </a:solidFill>
          <a:ln w="38100">
            <a:solidFill>
              <a:srgbClr val="27AE60"/>
            </a:solidFill>
            <a:prstDash val="solid"/>
          </a:ln>
        </p:spPr>
        <p:txBody>
          <a:bodyPr/>
          <a:lstStyle/>
          <a:p>
            <a:endParaRPr lang="en-US"/>
          </a:p>
        </p:txBody>
      </p:sp>
      <p:sp>
        <p:nvSpPr>
          <p:cNvPr id="8" name="Text 6"/>
          <p:cNvSpPr/>
          <p:nvPr/>
        </p:nvSpPr>
        <p:spPr>
          <a:xfrm>
            <a:off x="4937760" y="1554480"/>
            <a:ext cx="3383280" cy="365760"/>
          </a:xfrm>
          <a:prstGeom prst="rect">
            <a:avLst/>
          </a:prstGeom>
          <a:noFill/>
          <a:ln/>
        </p:spPr>
        <p:txBody>
          <a:bodyPr wrap="square" rtlCol="0" anchor="ctr"/>
          <a:lstStyle/>
          <a:p>
            <a:pPr marL="0" indent="0">
              <a:buNone/>
            </a:pPr>
            <a:r>
              <a:rPr lang="en-US" sz="2000" b="1" dirty="0">
                <a:solidFill>
                  <a:srgbClr val="27AE60"/>
                </a:solidFill>
                <a:latin typeface="Georgia" pitchFamily="34" charset="0"/>
                <a:ea typeface="Georgia" pitchFamily="34" charset="-122"/>
                <a:cs typeface="Georgia" pitchFamily="34" charset="-120"/>
              </a:rPr>
              <a:t>Dataset Statistics</a:t>
            </a:r>
            <a:endParaRPr lang="en-US" sz="2000" dirty="0"/>
          </a:p>
        </p:txBody>
      </p:sp>
      <p:sp>
        <p:nvSpPr>
          <p:cNvPr id="9" name="Text 7"/>
          <p:cNvSpPr/>
          <p:nvPr/>
        </p:nvSpPr>
        <p:spPr>
          <a:xfrm>
            <a:off x="4937760" y="2103120"/>
            <a:ext cx="1691640" cy="228600"/>
          </a:xfrm>
          <a:prstGeom prst="rect">
            <a:avLst/>
          </a:prstGeom>
          <a:noFill/>
          <a:ln/>
        </p:spPr>
        <p:txBody>
          <a:bodyPr wrap="square" rtlCol="0" anchor="ctr"/>
          <a:lstStyle/>
          <a:p>
            <a:pPr marL="0" indent="0">
              <a:buNone/>
            </a:pPr>
            <a:r>
              <a:rPr lang="en-US" sz="1100" b="1" dirty="0">
                <a:solidFill>
                  <a:srgbClr val="2C3E50"/>
                </a:solidFill>
                <a:latin typeface="Calibri" pitchFamily="34" charset="0"/>
                <a:ea typeface="Calibri" pitchFamily="34" charset="-122"/>
                <a:cs typeface="Calibri" pitchFamily="34" charset="-120"/>
              </a:rPr>
              <a:t>Total Districts</a:t>
            </a:r>
            <a:endParaRPr lang="en-US" sz="1100" dirty="0"/>
          </a:p>
        </p:txBody>
      </p:sp>
      <p:sp>
        <p:nvSpPr>
          <p:cNvPr id="10" name="Text 8"/>
          <p:cNvSpPr/>
          <p:nvPr/>
        </p:nvSpPr>
        <p:spPr>
          <a:xfrm>
            <a:off x="4937760" y="2331720"/>
            <a:ext cx="1691640" cy="228600"/>
          </a:xfrm>
          <a:prstGeom prst="rect">
            <a:avLst/>
          </a:prstGeom>
          <a:noFill/>
          <a:ln/>
        </p:spPr>
        <p:txBody>
          <a:bodyPr wrap="square" rtlCol="0" anchor="ctr"/>
          <a:lstStyle/>
          <a:p>
            <a:pPr marL="0" indent="0">
              <a:buNone/>
            </a:pPr>
            <a:r>
              <a:rPr lang="en-US" sz="1400" b="1" dirty="0">
                <a:solidFill>
                  <a:srgbClr val="27AE60"/>
                </a:solidFill>
                <a:latin typeface="Georgia" pitchFamily="34" charset="0"/>
                <a:ea typeface="Georgia" pitchFamily="34" charset="-122"/>
                <a:cs typeface="Georgia" pitchFamily="34" charset="-120"/>
              </a:rPr>
              <a:t>20,640</a:t>
            </a:r>
            <a:endParaRPr lang="en-US" sz="1400" dirty="0"/>
          </a:p>
        </p:txBody>
      </p:sp>
      <p:sp>
        <p:nvSpPr>
          <p:cNvPr id="11" name="Text 9"/>
          <p:cNvSpPr/>
          <p:nvPr/>
        </p:nvSpPr>
        <p:spPr>
          <a:xfrm>
            <a:off x="6766560" y="2103120"/>
            <a:ext cx="1691640" cy="228600"/>
          </a:xfrm>
          <a:prstGeom prst="rect">
            <a:avLst/>
          </a:prstGeom>
          <a:noFill/>
          <a:ln/>
        </p:spPr>
        <p:txBody>
          <a:bodyPr wrap="square" rtlCol="0" anchor="ctr"/>
          <a:lstStyle/>
          <a:p>
            <a:pPr marL="0" indent="0">
              <a:buNone/>
            </a:pPr>
            <a:r>
              <a:rPr lang="en-US" sz="1100" b="1" dirty="0">
                <a:solidFill>
                  <a:srgbClr val="2C3E50"/>
                </a:solidFill>
                <a:latin typeface="Calibri" pitchFamily="34" charset="0"/>
                <a:ea typeface="Calibri" pitchFamily="34" charset="-122"/>
                <a:cs typeface="Calibri" pitchFamily="34" charset="-120"/>
              </a:rPr>
              <a:t>Features</a:t>
            </a:r>
            <a:endParaRPr lang="en-US" sz="1100" dirty="0"/>
          </a:p>
        </p:txBody>
      </p:sp>
      <p:sp>
        <p:nvSpPr>
          <p:cNvPr id="12" name="Text 10"/>
          <p:cNvSpPr/>
          <p:nvPr/>
        </p:nvSpPr>
        <p:spPr>
          <a:xfrm>
            <a:off x="6766560" y="2331720"/>
            <a:ext cx="1691640" cy="228600"/>
          </a:xfrm>
          <a:prstGeom prst="rect">
            <a:avLst/>
          </a:prstGeom>
          <a:noFill/>
          <a:ln/>
        </p:spPr>
        <p:txBody>
          <a:bodyPr wrap="square" rtlCol="0" anchor="ctr"/>
          <a:lstStyle/>
          <a:p>
            <a:pPr marL="0" indent="0">
              <a:buNone/>
            </a:pPr>
            <a:r>
              <a:rPr lang="en-US" sz="1400" b="1" dirty="0">
                <a:solidFill>
                  <a:srgbClr val="27AE60"/>
                </a:solidFill>
                <a:latin typeface="Georgia" pitchFamily="34" charset="0"/>
                <a:ea typeface="Georgia" pitchFamily="34" charset="-122"/>
                <a:cs typeface="Georgia" pitchFamily="34" charset="-120"/>
              </a:rPr>
              <a:t>9 + Engineered</a:t>
            </a:r>
            <a:endParaRPr lang="en-US" sz="1400" dirty="0"/>
          </a:p>
        </p:txBody>
      </p:sp>
      <p:sp>
        <p:nvSpPr>
          <p:cNvPr id="13" name="Text 11"/>
          <p:cNvSpPr/>
          <p:nvPr/>
        </p:nvSpPr>
        <p:spPr>
          <a:xfrm>
            <a:off x="4937760" y="2651760"/>
            <a:ext cx="1691640" cy="228600"/>
          </a:xfrm>
          <a:prstGeom prst="rect">
            <a:avLst/>
          </a:prstGeom>
          <a:noFill/>
          <a:ln/>
        </p:spPr>
        <p:txBody>
          <a:bodyPr wrap="square" rtlCol="0" anchor="ctr"/>
          <a:lstStyle/>
          <a:p>
            <a:pPr marL="0" indent="0">
              <a:buNone/>
            </a:pPr>
            <a:r>
              <a:rPr lang="en-US" sz="1100" b="1" dirty="0">
                <a:solidFill>
                  <a:srgbClr val="2C3E50"/>
                </a:solidFill>
                <a:latin typeface="Calibri" pitchFamily="34" charset="0"/>
                <a:ea typeface="Calibri" pitchFamily="34" charset="-122"/>
                <a:cs typeface="Calibri" pitchFamily="34" charset="-120"/>
              </a:rPr>
              <a:t>Target Variable</a:t>
            </a:r>
            <a:endParaRPr lang="en-US" sz="1100" dirty="0"/>
          </a:p>
        </p:txBody>
      </p:sp>
      <p:sp>
        <p:nvSpPr>
          <p:cNvPr id="14" name="Text 12"/>
          <p:cNvSpPr/>
          <p:nvPr/>
        </p:nvSpPr>
        <p:spPr>
          <a:xfrm>
            <a:off x="4937760" y="2880360"/>
            <a:ext cx="1691640" cy="228600"/>
          </a:xfrm>
          <a:prstGeom prst="rect">
            <a:avLst/>
          </a:prstGeom>
          <a:noFill/>
          <a:ln/>
        </p:spPr>
        <p:txBody>
          <a:bodyPr wrap="square" rtlCol="0" anchor="ctr"/>
          <a:lstStyle/>
          <a:p>
            <a:pPr marL="0" indent="0">
              <a:buNone/>
            </a:pPr>
            <a:r>
              <a:rPr lang="en-US" sz="1400" b="1" dirty="0">
                <a:solidFill>
                  <a:srgbClr val="27AE60"/>
                </a:solidFill>
                <a:latin typeface="Georgia" pitchFamily="34" charset="0"/>
                <a:ea typeface="Georgia" pitchFamily="34" charset="-122"/>
                <a:cs typeface="Georgia" pitchFamily="34" charset="-120"/>
              </a:rPr>
              <a:t>median_house_value</a:t>
            </a:r>
            <a:endParaRPr lang="en-US" sz="1400" dirty="0"/>
          </a:p>
        </p:txBody>
      </p:sp>
      <p:sp>
        <p:nvSpPr>
          <p:cNvPr id="15" name="Text 13"/>
          <p:cNvSpPr/>
          <p:nvPr/>
        </p:nvSpPr>
        <p:spPr>
          <a:xfrm>
            <a:off x="6766560" y="2651760"/>
            <a:ext cx="1691640" cy="228600"/>
          </a:xfrm>
          <a:prstGeom prst="rect">
            <a:avLst/>
          </a:prstGeom>
          <a:noFill/>
          <a:ln/>
        </p:spPr>
        <p:txBody>
          <a:bodyPr wrap="square" rtlCol="0" anchor="ctr"/>
          <a:lstStyle/>
          <a:p>
            <a:pPr marL="0" indent="0">
              <a:buNone/>
            </a:pPr>
            <a:r>
              <a:rPr lang="en-US" sz="1100" b="1" dirty="0">
                <a:solidFill>
                  <a:srgbClr val="2C3E50"/>
                </a:solidFill>
                <a:latin typeface="Calibri" pitchFamily="34" charset="0"/>
                <a:ea typeface="Calibri" pitchFamily="34" charset="-122"/>
                <a:cs typeface="Calibri" pitchFamily="34" charset="-120"/>
              </a:rPr>
              <a:t>Missing Values</a:t>
            </a:r>
            <a:endParaRPr lang="en-US" sz="1100" dirty="0"/>
          </a:p>
        </p:txBody>
      </p:sp>
      <p:sp>
        <p:nvSpPr>
          <p:cNvPr id="16" name="Text 14"/>
          <p:cNvSpPr/>
          <p:nvPr/>
        </p:nvSpPr>
        <p:spPr>
          <a:xfrm>
            <a:off x="6766560" y="2880360"/>
            <a:ext cx="1691640" cy="228600"/>
          </a:xfrm>
          <a:prstGeom prst="rect">
            <a:avLst/>
          </a:prstGeom>
          <a:noFill/>
          <a:ln/>
        </p:spPr>
        <p:txBody>
          <a:bodyPr wrap="square" rtlCol="0" anchor="ctr"/>
          <a:lstStyle/>
          <a:p>
            <a:pPr marL="0" indent="0">
              <a:buNone/>
            </a:pPr>
            <a:r>
              <a:rPr lang="en-US" sz="1400" b="1" dirty="0">
                <a:solidFill>
                  <a:srgbClr val="27AE60"/>
                </a:solidFill>
                <a:latin typeface="Georgia" pitchFamily="34" charset="0"/>
                <a:ea typeface="Georgia" pitchFamily="34" charset="-122"/>
                <a:cs typeface="Georgia" pitchFamily="34" charset="-120"/>
              </a:rPr>
              <a:t>207 (0.1%)</a:t>
            </a:r>
            <a:endParaRPr lang="en-US" sz="1400" dirty="0"/>
          </a:p>
        </p:txBody>
      </p:sp>
      <p:sp>
        <p:nvSpPr>
          <p:cNvPr id="17" name="Text 15"/>
          <p:cNvSpPr/>
          <p:nvPr/>
        </p:nvSpPr>
        <p:spPr>
          <a:xfrm>
            <a:off x="4937760" y="3200400"/>
            <a:ext cx="1691640" cy="228600"/>
          </a:xfrm>
          <a:prstGeom prst="rect">
            <a:avLst/>
          </a:prstGeom>
          <a:noFill/>
          <a:ln/>
        </p:spPr>
        <p:txBody>
          <a:bodyPr wrap="square" rtlCol="0" anchor="ctr"/>
          <a:lstStyle/>
          <a:p>
            <a:pPr marL="0" indent="0">
              <a:buNone/>
            </a:pPr>
            <a:r>
              <a:rPr lang="en-US" sz="1100" b="1" dirty="0">
                <a:solidFill>
                  <a:srgbClr val="2C3E50"/>
                </a:solidFill>
                <a:latin typeface="Calibri" pitchFamily="34" charset="0"/>
                <a:ea typeface="Calibri" pitchFamily="34" charset="-122"/>
                <a:cs typeface="Calibri" pitchFamily="34" charset="-120"/>
              </a:rPr>
              <a:t>Price Range</a:t>
            </a:r>
            <a:endParaRPr lang="en-US" sz="1100" dirty="0"/>
          </a:p>
        </p:txBody>
      </p:sp>
      <p:sp>
        <p:nvSpPr>
          <p:cNvPr id="18" name="Text 16"/>
          <p:cNvSpPr/>
          <p:nvPr/>
        </p:nvSpPr>
        <p:spPr>
          <a:xfrm>
            <a:off x="4937760" y="3429000"/>
            <a:ext cx="1691640" cy="228600"/>
          </a:xfrm>
          <a:prstGeom prst="rect">
            <a:avLst/>
          </a:prstGeom>
          <a:noFill/>
          <a:ln/>
        </p:spPr>
        <p:txBody>
          <a:bodyPr wrap="square" rtlCol="0" anchor="ctr"/>
          <a:lstStyle/>
          <a:p>
            <a:pPr marL="0" indent="0">
              <a:buNone/>
            </a:pPr>
            <a:r>
              <a:rPr lang="en-US" sz="1400" b="1" dirty="0">
                <a:solidFill>
                  <a:srgbClr val="27AE60"/>
                </a:solidFill>
                <a:latin typeface="Georgia" pitchFamily="34" charset="0"/>
                <a:ea typeface="Georgia" pitchFamily="34" charset="-122"/>
                <a:cs typeface="Georgia" pitchFamily="34" charset="-120"/>
              </a:rPr>
              <a:t>$15k - $50k</a:t>
            </a:r>
            <a:endParaRPr lang="en-US" sz="1400" dirty="0"/>
          </a:p>
        </p:txBody>
      </p:sp>
      <p:sp>
        <p:nvSpPr>
          <p:cNvPr id="19" name="Text 17"/>
          <p:cNvSpPr/>
          <p:nvPr/>
        </p:nvSpPr>
        <p:spPr>
          <a:xfrm>
            <a:off x="6766560" y="3200400"/>
            <a:ext cx="1691640" cy="228600"/>
          </a:xfrm>
          <a:prstGeom prst="rect">
            <a:avLst/>
          </a:prstGeom>
          <a:noFill/>
          <a:ln/>
        </p:spPr>
        <p:txBody>
          <a:bodyPr wrap="square" rtlCol="0" anchor="ctr"/>
          <a:lstStyle/>
          <a:p>
            <a:pPr marL="0" indent="0">
              <a:buNone/>
            </a:pPr>
            <a:r>
              <a:rPr lang="en-US" sz="1100" b="1" dirty="0">
                <a:solidFill>
                  <a:srgbClr val="2C3E50"/>
                </a:solidFill>
                <a:latin typeface="Calibri" pitchFamily="34" charset="0"/>
                <a:ea typeface="Calibri" pitchFamily="34" charset="-122"/>
                <a:cs typeface="Calibri" pitchFamily="34" charset="-120"/>
              </a:rPr>
              <a:t>Median Price</a:t>
            </a:r>
            <a:endParaRPr lang="en-US" sz="1100" dirty="0"/>
          </a:p>
        </p:txBody>
      </p:sp>
      <p:sp>
        <p:nvSpPr>
          <p:cNvPr id="20" name="Text 18"/>
          <p:cNvSpPr/>
          <p:nvPr/>
        </p:nvSpPr>
        <p:spPr>
          <a:xfrm>
            <a:off x="6766560" y="3429000"/>
            <a:ext cx="1691640" cy="228600"/>
          </a:xfrm>
          <a:prstGeom prst="rect">
            <a:avLst/>
          </a:prstGeom>
          <a:noFill/>
          <a:ln/>
        </p:spPr>
        <p:txBody>
          <a:bodyPr wrap="square" rtlCol="0" anchor="ctr"/>
          <a:lstStyle/>
          <a:p>
            <a:pPr marL="0" indent="0">
              <a:buNone/>
            </a:pPr>
            <a:r>
              <a:rPr lang="en-US" sz="1400" b="1" dirty="0">
                <a:solidFill>
                  <a:srgbClr val="27AE60"/>
                </a:solidFill>
                <a:latin typeface="Georgia" pitchFamily="34" charset="0"/>
                <a:ea typeface="Georgia" pitchFamily="34" charset="-122"/>
                <a:cs typeface="Georgia" pitchFamily="34" charset="-120"/>
              </a:rPr>
              <a:t>$179,700</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5F5F5"/>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marL="0" indent="0">
              <a:buNone/>
            </a:pPr>
            <a:r>
              <a:rPr lang="en-US" sz="4000" b="1" dirty="0">
                <a:solidFill>
                  <a:srgbClr val="B85042"/>
                </a:solidFill>
                <a:latin typeface="Georgia" pitchFamily="34" charset="0"/>
                <a:ea typeface="Georgia" pitchFamily="34" charset="-122"/>
                <a:cs typeface="Georgia" pitchFamily="34" charset="-120"/>
              </a:rPr>
              <a:t>Data Distribution Analysis</a:t>
            </a:r>
            <a:endParaRPr lang="en-US" sz="4000" dirty="0"/>
          </a:p>
        </p:txBody>
      </p:sp>
      <p:sp>
        <p:nvSpPr>
          <p:cNvPr id="3" name="Shape 1"/>
          <p:cNvSpPr/>
          <p:nvPr/>
        </p:nvSpPr>
        <p:spPr>
          <a:xfrm>
            <a:off x="457200" y="960120"/>
            <a:ext cx="2743200" cy="73152"/>
          </a:xfrm>
          <a:prstGeom prst="rect">
            <a:avLst/>
          </a:prstGeom>
          <a:solidFill>
            <a:srgbClr val="A7BEAE"/>
          </a:solidFill>
          <a:ln/>
        </p:spPr>
        <p:txBody>
          <a:bodyPr/>
          <a:lstStyle/>
          <a:p>
            <a:endParaRPr lang="en-US"/>
          </a:p>
        </p:txBody>
      </p:sp>
      <p:pic>
        <p:nvPicPr>
          <p:cNvPr id="4" name="Image 0" descr="preencoded.png"/>
          <p:cNvPicPr>
            <a:picLocks noChangeAspect="1"/>
          </p:cNvPicPr>
          <p:nvPr/>
        </p:nvPicPr>
        <p:blipFill>
          <a:blip r:embed="rId3"/>
          <a:srcRect/>
          <a:stretch/>
        </p:blipFill>
        <p:spPr>
          <a:xfrm>
            <a:off x="457200" y="1280160"/>
            <a:ext cx="8229600" cy="3017520"/>
          </a:xfrm>
          <a:prstGeom prst="rect">
            <a:avLst/>
          </a:prstGeom>
        </p:spPr>
      </p:pic>
      <p:sp>
        <p:nvSpPr>
          <p:cNvPr id="5" name="Shape 2"/>
          <p:cNvSpPr/>
          <p:nvPr/>
        </p:nvSpPr>
        <p:spPr>
          <a:xfrm>
            <a:off x="457200" y="4434840"/>
            <a:ext cx="8229600" cy="548640"/>
          </a:xfrm>
          <a:prstGeom prst="rect">
            <a:avLst/>
          </a:prstGeom>
          <a:solidFill>
            <a:srgbClr val="FFF3CD"/>
          </a:solidFill>
          <a:ln w="25400">
            <a:solidFill>
              <a:srgbClr val="F39C12"/>
            </a:solidFill>
            <a:prstDash val="solid"/>
          </a:ln>
        </p:spPr>
        <p:txBody>
          <a:bodyPr/>
          <a:lstStyle/>
          <a:p>
            <a:endParaRPr lang="en-US"/>
          </a:p>
        </p:txBody>
      </p:sp>
      <p:sp>
        <p:nvSpPr>
          <p:cNvPr id="6" name="Text 3"/>
          <p:cNvSpPr/>
          <p:nvPr/>
        </p:nvSpPr>
        <p:spPr>
          <a:xfrm>
            <a:off x="640080" y="4526280"/>
            <a:ext cx="7863840" cy="365760"/>
          </a:xfrm>
          <a:prstGeom prst="rect">
            <a:avLst/>
          </a:prstGeom>
          <a:noFill/>
          <a:ln/>
        </p:spPr>
        <p:txBody>
          <a:bodyPr wrap="square" rtlCol="0" anchor="ctr"/>
          <a:lstStyle/>
          <a:p>
            <a:pPr marL="0" indent="0">
              <a:buNone/>
            </a:pPr>
            <a:r>
              <a:rPr lang="en-US" sz="1200" b="1" dirty="0">
                <a:solidFill>
                  <a:srgbClr val="2C3E50"/>
                </a:solidFill>
                <a:latin typeface="Calibri" pitchFamily="34" charset="0"/>
                <a:ea typeface="Calibri" pitchFamily="34" charset="-122"/>
                <a:cs typeface="Calibri" pitchFamily="34" charset="-120"/>
              </a:rPr>
              <a:t>⚠️ Critical Finding: Notice the spike at $500k in median_house_value - this data cap limits predictions for luxury homes (affects ~800 districts)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5F5F5"/>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marL="0" indent="0">
              <a:buNone/>
            </a:pPr>
            <a:r>
              <a:rPr lang="en-US" sz="4000" b="1" dirty="0">
                <a:solidFill>
                  <a:srgbClr val="B85042"/>
                </a:solidFill>
                <a:latin typeface="Georgia" pitchFamily="34" charset="0"/>
                <a:ea typeface="Georgia" pitchFamily="34" charset="-122"/>
                <a:cs typeface="Georgia" pitchFamily="34" charset="-120"/>
              </a:rPr>
              <a:t>Geographic Price Distribution</a:t>
            </a:r>
            <a:endParaRPr lang="en-US" sz="4000" dirty="0"/>
          </a:p>
        </p:txBody>
      </p:sp>
      <p:sp>
        <p:nvSpPr>
          <p:cNvPr id="3" name="Shape 1"/>
          <p:cNvSpPr/>
          <p:nvPr/>
        </p:nvSpPr>
        <p:spPr>
          <a:xfrm>
            <a:off x="457200" y="960120"/>
            <a:ext cx="2926080" cy="73152"/>
          </a:xfrm>
          <a:prstGeom prst="rect">
            <a:avLst/>
          </a:prstGeom>
          <a:solidFill>
            <a:srgbClr val="A7BEAE"/>
          </a:solidFill>
          <a:ln/>
        </p:spPr>
        <p:txBody>
          <a:bodyPr/>
          <a:lstStyle/>
          <a:p>
            <a:endParaRPr lang="en-US"/>
          </a:p>
        </p:txBody>
      </p:sp>
      <p:pic>
        <p:nvPicPr>
          <p:cNvPr id="4" name="Image 0"/>
          <p:cNvPicPr>
            <a:picLocks noChangeAspect="1"/>
          </p:cNvPicPr>
          <p:nvPr/>
        </p:nvPicPr>
        <p:blipFill>
          <a:blip r:embed="rId3"/>
          <a:srcRect/>
          <a:stretch/>
        </p:blipFill>
        <p:spPr>
          <a:xfrm>
            <a:off x="710852" y="1280160"/>
            <a:ext cx="4521895" cy="3474720"/>
          </a:xfrm>
          <a:prstGeom prst="rect">
            <a:avLst/>
          </a:prstGeom>
        </p:spPr>
      </p:pic>
      <p:sp>
        <p:nvSpPr>
          <p:cNvPr id="5" name="Shape 2"/>
          <p:cNvSpPr/>
          <p:nvPr/>
        </p:nvSpPr>
        <p:spPr>
          <a:xfrm>
            <a:off x="5669280" y="1280160"/>
            <a:ext cx="3017520" cy="3474720"/>
          </a:xfrm>
          <a:prstGeom prst="rect">
            <a:avLst/>
          </a:prstGeom>
          <a:solidFill>
            <a:srgbClr val="E7E8D1"/>
          </a:solidFill>
          <a:ln w="25400">
            <a:solidFill>
              <a:srgbClr val="B85042"/>
            </a:solidFill>
            <a:prstDash val="solid"/>
          </a:ln>
        </p:spPr>
        <p:txBody>
          <a:bodyPr/>
          <a:lstStyle/>
          <a:p>
            <a:endParaRPr lang="en-US"/>
          </a:p>
        </p:txBody>
      </p:sp>
      <p:sp>
        <p:nvSpPr>
          <p:cNvPr id="6" name="Text 3"/>
          <p:cNvSpPr/>
          <p:nvPr/>
        </p:nvSpPr>
        <p:spPr>
          <a:xfrm>
            <a:off x="5852160" y="1463040"/>
            <a:ext cx="2651760" cy="365760"/>
          </a:xfrm>
          <a:prstGeom prst="rect">
            <a:avLst/>
          </a:prstGeom>
          <a:noFill/>
          <a:ln/>
        </p:spPr>
        <p:txBody>
          <a:bodyPr wrap="square" rtlCol="0" anchor="ctr"/>
          <a:lstStyle/>
          <a:p>
            <a:pPr marL="0" indent="0">
              <a:buNone/>
            </a:pPr>
            <a:r>
              <a:rPr lang="en-US" sz="1800" b="1" dirty="0">
                <a:solidFill>
                  <a:srgbClr val="B85042"/>
                </a:solidFill>
                <a:latin typeface="Georgia" pitchFamily="34" charset="0"/>
                <a:ea typeface="Georgia" pitchFamily="34" charset="-122"/>
                <a:cs typeface="Georgia" pitchFamily="34" charset="-120"/>
              </a:rPr>
              <a:t>Geographic Insights</a:t>
            </a:r>
            <a:endParaRPr lang="en-US" sz="1800" dirty="0"/>
          </a:p>
        </p:txBody>
      </p:sp>
      <p:sp>
        <p:nvSpPr>
          <p:cNvPr id="7" name="Text 4"/>
          <p:cNvSpPr/>
          <p:nvPr/>
        </p:nvSpPr>
        <p:spPr>
          <a:xfrm>
            <a:off x="5852160" y="1920240"/>
            <a:ext cx="2651760" cy="2743200"/>
          </a:xfrm>
          <a:prstGeom prst="rect">
            <a:avLst/>
          </a:prstGeom>
          <a:noFill/>
          <a:ln/>
        </p:spPr>
        <p:txBody>
          <a:bodyPr wrap="square" rtlCol="0" anchor="ctr"/>
          <a:lstStyle/>
          <a:p>
            <a:pPr marL="0" indent="0">
              <a:buNone/>
            </a:pPr>
            <a:r>
              <a:rPr lang="en-US" sz="1400" b="1" dirty="0">
                <a:solidFill>
                  <a:srgbClr val="2C3E50"/>
                </a:solidFill>
              </a:rPr>
              <a:t>Visualization:</a:t>
            </a:r>
            <a:endParaRPr lang="en-US" sz="1400" dirty="0"/>
          </a:p>
          <a:p>
            <a:pPr marL="342900" indent="-342900">
              <a:buSzPct val="100000"/>
              <a:buChar char="•"/>
            </a:pPr>
            <a:r>
              <a:rPr lang="en-US" sz="1300" dirty="0">
                <a:solidFill>
                  <a:srgbClr val="2C3E50"/>
                </a:solidFill>
              </a:rPr>
              <a:t>• Circle size = Population</a:t>
            </a:r>
            <a:endParaRPr lang="en-US" sz="1400" dirty="0"/>
          </a:p>
          <a:p>
            <a:pPr marL="342900" indent="-342900">
              <a:buSzPct val="100000"/>
              <a:buChar char="•"/>
            </a:pPr>
            <a:r>
              <a:rPr lang="en-US" sz="1300" dirty="0">
                <a:solidFill>
                  <a:srgbClr val="2C3E50"/>
                </a:solidFill>
              </a:rPr>
              <a:t>• Color = Price (Blue→Red)</a:t>
            </a:r>
            <a:endParaRPr lang="en-US" sz="1400" dirty="0"/>
          </a:p>
          <a:p>
            <a:pPr marL="0" indent="0">
              <a:buNone/>
            </a:pPr>
            <a:endParaRPr lang="en-US" sz="1400" dirty="0"/>
          </a:p>
          <a:p>
            <a:pPr marL="0" indent="0">
              <a:buNone/>
            </a:pPr>
            <a:r>
              <a:rPr lang="en-US" sz="1400" b="1" dirty="0">
                <a:solidFill>
                  <a:srgbClr val="2C3E50"/>
                </a:solidFill>
              </a:rPr>
              <a:t>Key Patterns:</a:t>
            </a:r>
            <a:endParaRPr lang="en-US" sz="1400" dirty="0"/>
          </a:p>
          <a:p>
            <a:pPr marL="0" indent="0">
              <a:buNone/>
            </a:pPr>
            <a:r>
              <a:rPr lang="en-US" sz="1300" dirty="0">
                <a:solidFill>
                  <a:srgbClr val="27AE60"/>
                </a:solidFill>
              </a:rPr>
              <a:t>✓ Coastal premium</a:t>
            </a:r>
            <a:endParaRPr lang="en-US" sz="1400" dirty="0"/>
          </a:p>
          <a:p>
            <a:pPr marL="0" lvl="1" indent="0">
              <a:buNone/>
            </a:pPr>
            <a:r>
              <a:rPr lang="en-US" sz="1100" dirty="0">
                <a:solidFill>
                  <a:srgbClr val="2C3E50"/>
                </a:solidFill>
              </a:rPr>
              <a:t>  (Bay Area, LA, San Diego)</a:t>
            </a:r>
            <a:endParaRPr lang="en-US" sz="1400" dirty="0"/>
          </a:p>
          <a:p>
            <a:pPr marL="0" indent="0">
              <a:buNone/>
            </a:pPr>
            <a:r>
              <a:rPr lang="en-US" sz="1300" dirty="0">
                <a:solidFill>
                  <a:srgbClr val="27AE60"/>
                </a:solidFill>
              </a:rPr>
              <a:t>✓ Inland affordability</a:t>
            </a:r>
            <a:endParaRPr lang="en-US" sz="1400" dirty="0"/>
          </a:p>
          <a:p>
            <a:pPr marL="0" lvl="1" indent="0">
              <a:buNone/>
            </a:pPr>
            <a:r>
              <a:rPr lang="en-US" sz="1100" dirty="0">
                <a:solidFill>
                  <a:srgbClr val="2C3E50"/>
                </a:solidFill>
              </a:rPr>
              <a:t>  (Central Valley regions)</a:t>
            </a:r>
            <a:endParaRPr lang="en-US" sz="1400" dirty="0"/>
          </a:p>
          <a:p>
            <a:pPr marL="0" indent="0">
              <a:buNone/>
            </a:pPr>
            <a:endParaRPr lang="en-US" sz="1400" dirty="0"/>
          </a:p>
          <a:p>
            <a:pPr marL="0" indent="0">
              <a:buNone/>
            </a:pPr>
            <a:r>
              <a:rPr lang="en-US" sz="1200" i="1" dirty="0">
                <a:solidFill>
                  <a:srgbClr val="B85042"/>
                </a:solidFill>
              </a:rPr>
              <a:t>💡 Geography is a major</a:t>
            </a:r>
            <a:endParaRPr lang="en-US" sz="1400" dirty="0"/>
          </a:p>
          <a:p>
            <a:pPr marL="0" indent="0">
              <a:buNone/>
            </a:pPr>
            <a:r>
              <a:rPr lang="en-US" sz="1200" i="1" dirty="0">
                <a:solidFill>
                  <a:srgbClr val="B85042"/>
                </a:solidFill>
              </a:rPr>
              <a:t>price determinant - location</a:t>
            </a:r>
            <a:endParaRPr lang="en-US" sz="1400" dirty="0"/>
          </a:p>
          <a:p>
            <a:pPr marL="0" indent="0">
              <a:buNone/>
            </a:pPr>
            <a:r>
              <a:rPr lang="en-US" sz="1200" i="1" dirty="0">
                <a:solidFill>
                  <a:srgbClr val="B85042"/>
                </a:solidFill>
              </a:rPr>
              <a:t>features critical for ML</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5F5F5"/>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marL="0" indent="0">
              <a:buNone/>
            </a:pPr>
            <a:r>
              <a:rPr lang="en-US" sz="4000" b="1" dirty="0">
                <a:solidFill>
                  <a:srgbClr val="B85042"/>
                </a:solidFill>
                <a:latin typeface="Georgia" pitchFamily="34" charset="0"/>
                <a:ea typeface="Georgia" pitchFamily="34" charset="-122"/>
                <a:cs typeface="Georgia" pitchFamily="34" charset="-120"/>
              </a:rPr>
              <a:t>Feature Correlation Analysis</a:t>
            </a:r>
            <a:endParaRPr lang="en-US" sz="4000" dirty="0"/>
          </a:p>
        </p:txBody>
      </p:sp>
      <p:sp>
        <p:nvSpPr>
          <p:cNvPr id="3" name="Shape 1"/>
          <p:cNvSpPr/>
          <p:nvPr/>
        </p:nvSpPr>
        <p:spPr>
          <a:xfrm>
            <a:off x="457200" y="960120"/>
            <a:ext cx="2926080" cy="73152"/>
          </a:xfrm>
          <a:prstGeom prst="rect">
            <a:avLst/>
          </a:prstGeom>
          <a:solidFill>
            <a:srgbClr val="A7BEAE"/>
          </a:solidFill>
          <a:ln/>
        </p:spPr>
        <p:txBody>
          <a:bodyPr/>
          <a:lstStyle/>
          <a:p>
            <a:endParaRPr lang="en-US"/>
          </a:p>
        </p:txBody>
      </p:sp>
      <p:pic>
        <p:nvPicPr>
          <p:cNvPr id="4" name="Image 0" descr="preencoded.png"/>
          <p:cNvPicPr>
            <a:picLocks noChangeAspect="1"/>
          </p:cNvPicPr>
          <p:nvPr/>
        </p:nvPicPr>
        <p:blipFill>
          <a:blip r:embed="rId3"/>
          <a:srcRect/>
          <a:stretch/>
        </p:blipFill>
        <p:spPr>
          <a:xfrm>
            <a:off x="457200" y="1280160"/>
            <a:ext cx="5486400" cy="3474720"/>
          </a:xfrm>
          <a:prstGeom prst="rect">
            <a:avLst/>
          </a:prstGeom>
        </p:spPr>
      </p:pic>
      <p:sp>
        <p:nvSpPr>
          <p:cNvPr id="5" name="Shape 2"/>
          <p:cNvSpPr/>
          <p:nvPr/>
        </p:nvSpPr>
        <p:spPr>
          <a:xfrm>
            <a:off x="6126480" y="1280160"/>
            <a:ext cx="2560320" cy="3474720"/>
          </a:xfrm>
          <a:prstGeom prst="rect">
            <a:avLst/>
          </a:prstGeom>
          <a:solidFill>
            <a:srgbClr val="FFFFFF"/>
          </a:solidFill>
          <a:ln w="25400">
            <a:solidFill>
              <a:srgbClr val="B85042"/>
            </a:solidFill>
            <a:prstDash val="solid"/>
          </a:ln>
        </p:spPr>
        <p:txBody>
          <a:bodyPr/>
          <a:lstStyle/>
          <a:p>
            <a:endParaRPr lang="en-US"/>
          </a:p>
        </p:txBody>
      </p:sp>
      <p:sp>
        <p:nvSpPr>
          <p:cNvPr id="6" name="Text 3"/>
          <p:cNvSpPr/>
          <p:nvPr/>
        </p:nvSpPr>
        <p:spPr>
          <a:xfrm>
            <a:off x="6309360" y="1463040"/>
            <a:ext cx="2194560" cy="274320"/>
          </a:xfrm>
          <a:prstGeom prst="rect">
            <a:avLst/>
          </a:prstGeom>
          <a:noFill/>
          <a:ln/>
        </p:spPr>
        <p:txBody>
          <a:bodyPr wrap="square" rtlCol="0" anchor="ctr"/>
          <a:lstStyle/>
          <a:p>
            <a:pPr marL="0" indent="0">
              <a:buNone/>
            </a:pPr>
            <a:r>
              <a:rPr lang="en-US" sz="1700" b="1" dirty="0">
                <a:solidFill>
                  <a:srgbClr val="B85042"/>
                </a:solidFill>
                <a:latin typeface="Georgia" pitchFamily="34" charset="0"/>
                <a:ea typeface="Georgia" pitchFamily="34" charset="-122"/>
                <a:cs typeface="Georgia" pitchFamily="34" charset="-120"/>
              </a:rPr>
              <a:t>Top Correlations</a:t>
            </a:r>
            <a:endParaRPr lang="en-US" sz="1700" dirty="0"/>
          </a:p>
        </p:txBody>
      </p:sp>
      <p:sp>
        <p:nvSpPr>
          <p:cNvPr id="7" name="Text 4"/>
          <p:cNvSpPr/>
          <p:nvPr/>
        </p:nvSpPr>
        <p:spPr>
          <a:xfrm>
            <a:off x="6309360" y="1828800"/>
            <a:ext cx="2194560" cy="2834640"/>
          </a:xfrm>
          <a:prstGeom prst="rect">
            <a:avLst/>
          </a:prstGeom>
          <a:noFill/>
          <a:ln/>
        </p:spPr>
        <p:txBody>
          <a:bodyPr wrap="square" rtlCol="0" anchor="ctr"/>
          <a:lstStyle/>
          <a:p>
            <a:pPr marL="0" indent="0">
              <a:buNone/>
            </a:pPr>
            <a:r>
              <a:rPr lang="en-US" sz="1200" i="1" dirty="0">
                <a:solidFill>
                  <a:srgbClr val="2C3E50"/>
                </a:solidFill>
              </a:rPr>
              <a:t>With median_house_value:</a:t>
            </a:r>
            <a:endParaRPr lang="en-US" sz="1200" dirty="0"/>
          </a:p>
          <a:p>
            <a:pPr marL="0" indent="0">
              <a:buNone/>
            </a:pPr>
            <a:endParaRPr lang="en-US" sz="1200" dirty="0"/>
          </a:p>
          <a:p>
            <a:pPr marL="0" indent="0">
              <a:buNone/>
            </a:pPr>
            <a:r>
              <a:rPr lang="en-US" sz="1500" b="1" dirty="0">
                <a:solidFill>
                  <a:srgbClr val="27AE60"/>
                </a:solidFill>
              </a:rPr>
              <a:t>#1 median_income</a:t>
            </a:r>
            <a:endParaRPr lang="en-US" sz="1200" dirty="0"/>
          </a:p>
          <a:p>
            <a:pPr marL="0" indent="0">
              <a:buNone/>
            </a:pPr>
            <a:r>
              <a:rPr lang="en-US" sz="1200" dirty="0">
                <a:solidFill>
                  <a:srgbClr val="2C3E50"/>
                </a:solidFill>
              </a:rPr>
              <a:t>Correlation: +0.69</a:t>
            </a:r>
            <a:endParaRPr lang="en-US" sz="1200" dirty="0"/>
          </a:p>
          <a:p>
            <a:pPr marL="0" indent="0">
              <a:buNone/>
            </a:pPr>
            <a:endParaRPr lang="en-US" sz="1200" dirty="0"/>
          </a:p>
          <a:p>
            <a:pPr marL="0" indent="0">
              <a:buNone/>
            </a:pPr>
            <a:r>
              <a:rPr lang="en-US" sz="1400" b="1" dirty="0">
                <a:solidFill>
                  <a:srgbClr val="3498DB"/>
                </a:solidFill>
              </a:rPr>
              <a:t>#2 Total rooms</a:t>
            </a:r>
            <a:endParaRPr lang="en-US" sz="1200" dirty="0"/>
          </a:p>
          <a:p>
            <a:pPr marL="0" indent="0">
              <a:buNone/>
            </a:pPr>
            <a:r>
              <a:rPr lang="en-US" sz="1200" dirty="0">
                <a:solidFill>
                  <a:srgbClr val="2C3E50"/>
                </a:solidFill>
              </a:rPr>
              <a:t>Correlation: +0.13</a:t>
            </a:r>
            <a:endParaRPr lang="en-US" sz="1200" dirty="0"/>
          </a:p>
          <a:p>
            <a:pPr marL="0" indent="0">
              <a:buNone/>
            </a:pPr>
            <a:endParaRPr lang="en-US" sz="1200" dirty="0"/>
          </a:p>
          <a:p>
            <a:pPr marL="0" indent="0">
              <a:buNone/>
            </a:pPr>
            <a:r>
              <a:rPr lang="en-US" sz="1400" b="1" dirty="0">
                <a:solidFill>
                  <a:srgbClr val="E74C3C"/>
                </a:solidFill>
              </a:rPr>
              <a:t>#3 Latitude</a:t>
            </a:r>
            <a:endParaRPr lang="en-US" sz="1200" dirty="0"/>
          </a:p>
          <a:p>
            <a:pPr marL="0" indent="0">
              <a:buNone/>
            </a:pPr>
            <a:r>
              <a:rPr lang="en-US" sz="1200" dirty="0">
                <a:solidFill>
                  <a:srgbClr val="2C3E50"/>
                </a:solidFill>
              </a:rPr>
              <a:t>Correlation: -0.14</a:t>
            </a:r>
            <a:endParaRPr lang="en-US" sz="1200" dirty="0"/>
          </a:p>
          <a:p>
            <a:pPr marL="0" indent="0">
              <a:buNone/>
            </a:pPr>
            <a:r>
              <a:rPr lang="en-US" sz="1000" i="1" dirty="0">
                <a:solidFill>
                  <a:srgbClr val="2C3E50"/>
                </a:solidFill>
              </a:rPr>
              <a:t>(Prices ↓ going North)</a:t>
            </a:r>
            <a:endParaRPr lang="en-US" sz="1200" dirty="0"/>
          </a:p>
          <a:p>
            <a:pPr marL="0" indent="0">
              <a:buNone/>
            </a:pPr>
            <a:endParaRPr lang="en-US" sz="1200" dirty="0"/>
          </a:p>
          <a:p>
            <a:pPr marL="0" indent="0">
              <a:buNone/>
            </a:pPr>
            <a:r>
              <a:rPr lang="en-US" sz="1100" i="1" dirty="0">
                <a:solidFill>
                  <a:srgbClr val="B85042"/>
                </a:solidFill>
              </a:rPr>
              <a:t>💡 Income drives 48%</a:t>
            </a:r>
            <a:endParaRPr lang="en-US" sz="1200" dirty="0"/>
          </a:p>
          <a:p>
            <a:pPr marL="0" indent="0">
              <a:buNone/>
            </a:pPr>
            <a:r>
              <a:rPr lang="en-US" sz="1100" i="1" dirty="0">
                <a:solidFill>
                  <a:srgbClr val="B85042"/>
                </a:solidFill>
              </a:rPr>
              <a:t>of price variance!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5F5F5"/>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marL="0" indent="0">
              <a:buNone/>
            </a:pPr>
            <a:r>
              <a:rPr lang="en-US" sz="4000" b="1" dirty="0">
                <a:solidFill>
                  <a:srgbClr val="B85042"/>
                </a:solidFill>
                <a:latin typeface="Georgia" pitchFamily="34" charset="0"/>
                <a:ea typeface="Georgia" pitchFamily="34" charset="-122"/>
                <a:cs typeface="Georgia" pitchFamily="34" charset="-120"/>
              </a:rPr>
              <a:t>Feature Engineering &amp; Preprocessing</a:t>
            </a:r>
            <a:endParaRPr lang="en-US" sz="4000" dirty="0"/>
          </a:p>
        </p:txBody>
      </p:sp>
      <p:sp>
        <p:nvSpPr>
          <p:cNvPr id="4" name="Shape 2"/>
          <p:cNvSpPr/>
          <p:nvPr/>
        </p:nvSpPr>
        <p:spPr>
          <a:xfrm>
            <a:off x="640080" y="1568558"/>
            <a:ext cx="3931920" cy="3269889"/>
          </a:xfrm>
          <a:prstGeom prst="rect">
            <a:avLst/>
          </a:prstGeom>
          <a:solidFill>
            <a:srgbClr val="E8F5E9"/>
          </a:solidFill>
          <a:ln w="25400">
            <a:solidFill>
              <a:srgbClr val="27AE60"/>
            </a:solidFill>
            <a:prstDash val="solid"/>
          </a:ln>
        </p:spPr>
        <p:txBody>
          <a:bodyPr/>
          <a:lstStyle/>
          <a:p>
            <a:endParaRPr lang="en-US"/>
          </a:p>
        </p:txBody>
      </p:sp>
      <p:sp>
        <p:nvSpPr>
          <p:cNvPr id="5" name="Text 3"/>
          <p:cNvSpPr/>
          <p:nvPr/>
        </p:nvSpPr>
        <p:spPr>
          <a:xfrm>
            <a:off x="871406" y="1554480"/>
            <a:ext cx="3566160" cy="320040"/>
          </a:xfrm>
          <a:prstGeom prst="rect">
            <a:avLst/>
          </a:prstGeom>
          <a:noFill/>
          <a:ln/>
        </p:spPr>
        <p:txBody>
          <a:bodyPr wrap="square" rtlCol="0" anchor="ctr"/>
          <a:lstStyle/>
          <a:p>
            <a:pPr marL="0" indent="0">
              <a:buNone/>
            </a:pPr>
            <a:r>
              <a:rPr lang="en-US" sz="1800" b="1" dirty="0">
                <a:solidFill>
                  <a:srgbClr val="27AE60"/>
                </a:solidFill>
                <a:latin typeface="Georgia" pitchFamily="34" charset="0"/>
                <a:ea typeface="Georgia" pitchFamily="34" charset="-122"/>
                <a:cs typeface="Georgia" pitchFamily="34" charset="-120"/>
              </a:rPr>
              <a:t>Data Preprocessing ✓</a:t>
            </a:r>
            <a:endParaRPr lang="en-US" sz="1800" dirty="0"/>
          </a:p>
        </p:txBody>
      </p:sp>
      <p:sp>
        <p:nvSpPr>
          <p:cNvPr id="6" name="Text 4"/>
          <p:cNvSpPr/>
          <p:nvPr/>
        </p:nvSpPr>
        <p:spPr>
          <a:xfrm>
            <a:off x="822960" y="2087299"/>
            <a:ext cx="3566160" cy="2468880"/>
          </a:xfrm>
          <a:prstGeom prst="rect">
            <a:avLst/>
          </a:prstGeom>
          <a:noFill/>
          <a:ln/>
        </p:spPr>
        <p:txBody>
          <a:bodyPr wrap="square" rtlCol="0" anchor="ctr"/>
          <a:lstStyle/>
          <a:p>
            <a:pPr marL="342900" indent="-342900">
              <a:buSzPct val="100000"/>
              <a:buChar char="•"/>
            </a:pPr>
            <a:r>
              <a:rPr lang="en-US" sz="1300" dirty="0">
                <a:solidFill>
                  <a:srgbClr val="2C3E50"/>
                </a:solidFill>
              </a:rPr>
              <a:t>• Dropped 207 missing bedrooms</a:t>
            </a:r>
            <a:endParaRPr lang="en-US" sz="1500" dirty="0"/>
          </a:p>
          <a:p>
            <a:pPr marL="0" lvl="1" indent="0">
              <a:buNone/>
            </a:pPr>
            <a:r>
              <a:rPr lang="en-US" sz="1300" dirty="0">
                <a:solidFill>
                  <a:srgbClr val="2C3E50"/>
                </a:solidFill>
              </a:rPr>
              <a:t>  </a:t>
            </a:r>
            <a:endParaRPr lang="en-US" sz="1500" dirty="0"/>
          </a:p>
          <a:p>
            <a:pPr marL="0" indent="0">
              <a:buNone/>
            </a:pPr>
            <a:r>
              <a:rPr lang="en-US" sz="1500" b="1" dirty="0">
                <a:solidFill>
                  <a:srgbClr val="2C3E50"/>
                </a:solidFill>
              </a:rPr>
              <a:t>2. Categorical Encoding</a:t>
            </a:r>
            <a:endParaRPr lang="en-US" sz="1500" dirty="0"/>
          </a:p>
          <a:p>
            <a:pPr marL="342900" indent="-342900">
              <a:buSzPct val="100000"/>
              <a:buChar char="•"/>
            </a:pPr>
            <a:r>
              <a:rPr lang="en-US" sz="1300" dirty="0">
                <a:solidFill>
                  <a:srgbClr val="2C3E50"/>
                </a:solidFill>
              </a:rPr>
              <a:t>• One-Hot Encoding for</a:t>
            </a:r>
            <a:endParaRPr lang="en-US" sz="1500" dirty="0"/>
          </a:p>
          <a:p>
            <a:pPr marL="0" lvl="1" indent="0">
              <a:buNone/>
            </a:pPr>
            <a:r>
              <a:rPr lang="en-US" sz="1300" dirty="0">
                <a:solidFill>
                  <a:srgbClr val="2C3E50"/>
                </a:solidFill>
              </a:rPr>
              <a:t>  ocean_proximity (5 categories)</a:t>
            </a:r>
            <a:endParaRPr lang="en-US" sz="1500" dirty="0"/>
          </a:p>
          <a:p>
            <a:pPr marL="0" indent="0">
              <a:buNone/>
            </a:pPr>
            <a:endParaRPr lang="en-US" sz="1500" dirty="0"/>
          </a:p>
          <a:p>
            <a:pPr marL="0" indent="0">
              <a:buNone/>
            </a:pPr>
            <a:r>
              <a:rPr lang="en-US" sz="1500" b="1" dirty="0">
                <a:solidFill>
                  <a:srgbClr val="2C3E50"/>
                </a:solidFill>
              </a:rPr>
              <a:t>3. Feature Scaling</a:t>
            </a:r>
            <a:endParaRPr lang="en-US" sz="1500" dirty="0"/>
          </a:p>
          <a:p>
            <a:pPr marL="342900" indent="-342900">
              <a:buSzPct val="100000"/>
              <a:buChar char="•"/>
            </a:pPr>
            <a:r>
              <a:rPr lang="en-US" sz="1300" dirty="0">
                <a:solidFill>
                  <a:srgbClr val="2C3E50"/>
                </a:solidFill>
              </a:rPr>
              <a:t>• StandardScaler applied</a:t>
            </a:r>
            <a:endParaRPr lang="en-US" sz="1500" dirty="0"/>
          </a:p>
          <a:p>
            <a:pPr marL="342900" indent="-342900">
              <a:buSzPct val="100000"/>
              <a:buChar char="•"/>
            </a:pPr>
            <a:r>
              <a:rPr lang="en-US" sz="1300" dirty="0">
                <a:solidFill>
                  <a:srgbClr val="2C3E50"/>
                </a:solidFill>
              </a:rPr>
              <a:t>• Normalized all features</a:t>
            </a:r>
            <a:endParaRPr lang="en-US" sz="1500" dirty="0"/>
          </a:p>
          <a:p>
            <a:pPr marL="0" indent="0">
              <a:buNone/>
            </a:pPr>
            <a:endParaRPr lang="en-US" sz="1500" dirty="0"/>
          </a:p>
          <a:p>
            <a:pPr marL="0" indent="0">
              <a:buNone/>
            </a:pPr>
            <a:r>
              <a:rPr lang="en-US" sz="1500" b="1" dirty="0">
                <a:solidFill>
                  <a:srgbClr val="2C3E50"/>
                </a:solidFill>
              </a:rPr>
              <a:t>4. Train-Test Split</a:t>
            </a:r>
            <a:endParaRPr lang="en-US" sz="1500" dirty="0"/>
          </a:p>
          <a:p>
            <a:pPr marL="342900" indent="-342900">
              <a:buSzPct val="100000"/>
              <a:buChar char="•"/>
            </a:pPr>
            <a:r>
              <a:rPr lang="en-US" sz="1300" dirty="0">
                <a:solidFill>
                  <a:srgbClr val="2C3E50"/>
                </a:solidFill>
              </a:rPr>
              <a:t>• 80% training (16,512)</a:t>
            </a:r>
            <a:endParaRPr lang="en-US" sz="1500" dirty="0"/>
          </a:p>
          <a:p>
            <a:pPr marL="342900" indent="-342900">
              <a:buSzPct val="100000"/>
              <a:buChar char="•"/>
            </a:pPr>
            <a:r>
              <a:rPr lang="en-US" sz="1300" dirty="0">
                <a:solidFill>
                  <a:srgbClr val="2C3E50"/>
                </a:solidFill>
              </a:rPr>
              <a:t>• 20% testing (4,128)</a:t>
            </a:r>
            <a:endParaRPr lang="en-US" sz="1500" dirty="0"/>
          </a:p>
        </p:txBody>
      </p:sp>
      <p:sp>
        <p:nvSpPr>
          <p:cNvPr id="7" name="Shape 5"/>
          <p:cNvSpPr/>
          <p:nvPr/>
        </p:nvSpPr>
        <p:spPr>
          <a:xfrm>
            <a:off x="4706435" y="1577339"/>
            <a:ext cx="3749040" cy="3269889"/>
          </a:xfrm>
          <a:prstGeom prst="rect">
            <a:avLst/>
          </a:prstGeom>
          <a:solidFill>
            <a:srgbClr val="FFF3E0"/>
          </a:solidFill>
          <a:ln w="25400">
            <a:solidFill>
              <a:srgbClr val="F39C12"/>
            </a:solidFill>
            <a:prstDash val="solid"/>
          </a:ln>
        </p:spPr>
        <p:txBody>
          <a:bodyPr/>
          <a:lstStyle/>
          <a:p>
            <a:endParaRPr lang="en-US"/>
          </a:p>
        </p:txBody>
      </p:sp>
      <p:sp>
        <p:nvSpPr>
          <p:cNvPr id="8" name="Text 6"/>
          <p:cNvSpPr/>
          <p:nvPr/>
        </p:nvSpPr>
        <p:spPr>
          <a:xfrm>
            <a:off x="4937760" y="1554480"/>
            <a:ext cx="3383280" cy="320040"/>
          </a:xfrm>
          <a:prstGeom prst="rect">
            <a:avLst/>
          </a:prstGeom>
          <a:noFill/>
          <a:ln/>
        </p:spPr>
        <p:txBody>
          <a:bodyPr wrap="square" rtlCol="0" anchor="ctr"/>
          <a:lstStyle/>
          <a:p>
            <a:pPr marL="0" indent="0">
              <a:buNone/>
            </a:pPr>
            <a:r>
              <a:rPr lang="en-US" sz="1800" b="1" dirty="0">
                <a:solidFill>
                  <a:srgbClr val="F39C12"/>
                </a:solidFill>
                <a:latin typeface="Georgia" pitchFamily="34" charset="0"/>
                <a:ea typeface="Georgia" pitchFamily="34" charset="-122"/>
                <a:cs typeface="Georgia" pitchFamily="34" charset="-120"/>
              </a:rPr>
              <a:t>Feature Engineering ⚙️</a:t>
            </a:r>
            <a:endParaRPr lang="en-US" sz="1800" dirty="0"/>
          </a:p>
        </p:txBody>
      </p:sp>
      <p:sp>
        <p:nvSpPr>
          <p:cNvPr id="9" name="Text 7"/>
          <p:cNvSpPr/>
          <p:nvPr/>
        </p:nvSpPr>
        <p:spPr>
          <a:xfrm>
            <a:off x="4937760" y="1965960"/>
            <a:ext cx="3383280" cy="2468880"/>
          </a:xfrm>
          <a:prstGeom prst="rect">
            <a:avLst/>
          </a:prstGeom>
          <a:noFill/>
          <a:ln/>
        </p:spPr>
        <p:txBody>
          <a:bodyPr wrap="square" rtlCol="0" anchor="ctr"/>
          <a:lstStyle/>
          <a:p>
            <a:pPr marL="0" indent="0">
              <a:buNone/>
            </a:pPr>
            <a:endParaRPr lang="en-US" sz="1500" dirty="0"/>
          </a:p>
          <a:p>
            <a:pPr marL="0" indent="0">
              <a:buNone/>
            </a:pPr>
            <a:endParaRPr lang="en-US" sz="1500" dirty="0"/>
          </a:p>
          <a:p>
            <a:pPr marL="0" indent="0">
              <a:buNone/>
            </a:pPr>
            <a:r>
              <a:rPr lang="en-US" sz="1400" b="1" dirty="0">
                <a:solidFill>
                  <a:srgbClr val="2C3E50"/>
                </a:solidFill>
              </a:rPr>
              <a:t>1. rooms_per_household</a:t>
            </a:r>
            <a:endParaRPr lang="en-US" sz="1500" dirty="0"/>
          </a:p>
          <a:p>
            <a:pPr marL="0" indent="0">
              <a:buNone/>
            </a:pPr>
            <a:r>
              <a:rPr lang="en-US" sz="1200" dirty="0">
                <a:solidFill>
                  <a:srgbClr val="2C3E50"/>
                </a:solidFill>
              </a:rPr>
              <a:t>= total_rooms / households</a:t>
            </a:r>
            <a:endParaRPr lang="en-US" sz="1500" dirty="0"/>
          </a:p>
          <a:p>
            <a:pPr marL="0" indent="0">
              <a:buNone/>
            </a:pPr>
            <a:r>
              <a:rPr lang="en-US" sz="1100" i="1" dirty="0">
                <a:solidFill>
                  <a:srgbClr val="2C3E50"/>
                </a:solidFill>
              </a:rPr>
              <a:t>Captures property size density</a:t>
            </a:r>
            <a:endParaRPr lang="en-US" sz="1500" dirty="0"/>
          </a:p>
          <a:p>
            <a:pPr marL="0" indent="0">
              <a:buNone/>
            </a:pPr>
            <a:endParaRPr lang="en-US" sz="1500" dirty="0"/>
          </a:p>
          <a:p>
            <a:pPr marL="0" indent="0">
              <a:buNone/>
            </a:pPr>
            <a:r>
              <a:rPr lang="en-US" sz="1400" b="1" dirty="0">
                <a:solidFill>
                  <a:srgbClr val="2C3E50"/>
                </a:solidFill>
              </a:rPr>
              <a:t>2. bedrooms_per_room</a:t>
            </a:r>
            <a:endParaRPr lang="en-US" sz="1500" dirty="0"/>
          </a:p>
          <a:p>
            <a:pPr marL="0" indent="0">
              <a:buNone/>
            </a:pPr>
            <a:r>
              <a:rPr lang="en-US" sz="1200" dirty="0">
                <a:solidFill>
                  <a:srgbClr val="2C3E50"/>
                </a:solidFill>
              </a:rPr>
              <a:t>= total_bedrooms / total_rooms</a:t>
            </a:r>
            <a:endParaRPr lang="en-US" sz="1500" dirty="0"/>
          </a:p>
          <a:p>
            <a:pPr marL="0" indent="0">
              <a:buNone/>
            </a:pPr>
            <a:r>
              <a:rPr lang="en-US" sz="1100" i="1" dirty="0">
                <a:solidFill>
                  <a:srgbClr val="2C3E50"/>
                </a:solidFill>
              </a:rPr>
              <a:t>Indicates room type distribution</a:t>
            </a:r>
            <a:endParaRPr lang="en-US" sz="1500" dirty="0"/>
          </a:p>
          <a:p>
            <a:pPr marL="0" indent="0">
              <a:buNone/>
            </a:pPr>
            <a:endParaRPr lang="en-US" sz="1500" dirty="0"/>
          </a:p>
          <a:p>
            <a:pPr marL="0" indent="0">
              <a:buNone/>
            </a:pPr>
            <a:r>
              <a:rPr lang="en-US" sz="1400" b="1" dirty="0">
                <a:solidFill>
                  <a:srgbClr val="2C3E50"/>
                </a:solidFill>
              </a:rPr>
              <a:t>3. population_per_household</a:t>
            </a:r>
            <a:endParaRPr lang="en-US" sz="1500" dirty="0"/>
          </a:p>
          <a:p>
            <a:pPr marL="0" indent="0">
              <a:buNone/>
            </a:pPr>
            <a:r>
              <a:rPr lang="en-US" sz="1200" dirty="0">
                <a:solidFill>
                  <a:srgbClr val="2C3E50"/>
                </a:solidFill>
              </a:rPr>
              <a:t>= population / households</a:t>
            </a:r>
            <a:endParaRPr lang="en-US" sz="1500" dirty="0"/>
          </a:p>
          <a:p>
            <a:pPr marL="0" indent="0">
              <a:buNone/>
            </a:pPr>
            <a:r>
              <a:rPr lang="en-US" sz="1100" i="1" dirty="0">
                <a:solidFill>
                  <a:srgbClr val="2C3E50"/>
                </a:solidFill>
              </a:rPr>
              <a:t>Measures household occupancy</a:t>
            </a:r>
            <a:endParaRPr lang="en-US" sz="1500" dirty="0"/>
          </a:p>
          <a:p>
            <a:pPr marL="0" indent="0">
              <a:buNone/>
            </a:pPr>
            <a:endParaRPr lang="en-US" sz="1500" dirty="0"/>
          </a:p>
          <a:p>
            <a:pPr marL="0" indent="0">
              <a:buNone/>
            </a:pPr>
            <a:r>
              <a:rPr lang="en-US" sz="1200" dirty="0">
                <a:solidFill>
                  <a:srgbClr val="27AE60"/>
                </a:solidFill>
              </a:rPr>
              <a:t>✓ These ratios provide better</a:t>
            </a:r>
            <a:endParaRPr lang="en-US" sz="1500" dirty="0"/>
          </a:p>
          <a:p>
            <a:pPr marL="0" indent="0">
              <a:buNone/>
            </a:pPr>
            <a:r>
              <a:rPr lang="en-US" sz="1200" dirty="0">
                <a:solidFill>
                  <a:srgbClr val="27AE60"/>
                </a:solidFill>
              </a:rPr>
              <a:t>insights than raw counts!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5F5F5"/>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marL="0" indent="0">
              <a:buNone/>
            </a:pPr>
            <a:r>
              <a:rPr lang="en-US" sz="4000" b="1" dirty="0">
                <a:solidFill>
                  <a:srgbClr val="B85042"/>
                </a:solidFill>
                <a:latin typeface="Georgia" pitchFamily="34" charset="0"/>
                <a:ea typeface="Georgia" pitchFamily="34" charset="-122"/>
                <a:cs typeface="Georgia" pitchFamily="34" charset="-120"/>
              </a:rPr>
              <a:t>Model Performance Comparison</a:t>
            </a:r>
            <a:endParaRPr lang="en-US" sz="4000" dirty="0"/>
          </a:p>
        </p:txBody>
      </p:sp>
      <p:pic>
        <p:nvPicPr>
          <p:cNvPr id="4" name="Image 0"/>
          <p:cNvPicPr>
            <a:picLocks noChangeAspect="1"/>
          </p:cNvPicPr>
          <p:nvPr/>
        </p:nvPicPr>
        <p:blipFill>
          <a:blip r:embed="rId3"/>
          <a:srcRect/>
          <a:stretch/>
        </p:blipFill>
        <p:spPr>
          <a:xfrm>
            <a:off x="457200" y="1586191"/>
            <a:ext cx="8229600" cy="2314018"/>
          </a:xfrm>
          <a:prstGeom prst="rect">
            <a:avLst/>
          </a:prstGeom>
        </p:spPr>
      </p:pic>
      <p:sp>
        <p:nvSpPr>
          <p:cNvPr id="6" name="Text 3"/>
          <p:cNvSpPr/>
          <p:nvPr/>
        </p:nvSpPr>
        <p:spPr>
          <a:xfrm>
            <a:off x="640080" y="4434840"/>
            <a:ext cx="7863840" cy="228600"/>
          </a:xfrm>
          <a:prstGeom prst="rect">
            <a:avLst/>
          </a:prstGeom>
          <a:noFill/>
          <a:ln/>
        </p:spPr>
        <p:txBody>
          <a:bodyPr wrap="square" rtlCol="0" anchor="ctr"/>
          <a:lstStyle/>
          <a:p>
            <a:pPr algn="ctr"/>
            <a:r>
              <a:rPr lang="en-US" sz="1600" b="1" dirty="0">
                <a:solidFill>
                  <a:srgbClr val="27AE60"/>
                </a:solidFill>
                <a:latin typeface="Georgia" pitchFamily="34" charset="0"/>
                <a:ea typeface="Georgia" pitchFamily="34" charset="-122"/>
                <a:cs typeface="Georgia" pitchFamily="34" charset="-120"/>
              </a:rPr>
              <a:t>🏆 </a:t>
            </a:r>
            <a:r>
              <a:rPr lang="en-US" sz="1600" b="1" dirty="0">
                <a:solidFill>
                  <a:schemeClr val="accent6">
                    <a:lumMod val="75000"/>
                  </a:schemeClr>
                </a:solidFill>
                <a:latin typeface="Georgia" pitchFamily="34" charset="0"/>
                <a:ea typeface="Georgia" pitchFamily="34" charset="-122"/>
                <a:cs typeface="Georgia" pitchFamily="34" charset="-120"/>
              </a:rPr>
              <a:t>Winner: Random Forest Regressor | R² = </a:t>
            </a:r>
            <a:r>
              <a:rPr lang="en-US" dirty="0">
                <a:solidFill>
                  <a:schemeClr val="accent6">
                    <a:lumMod val="75000"/>
                  </a:schemeClr>
                </a:solidFill>
              </a:rPr>
              <a:t>0.778371</a:t>
            </a:r>
            <a:r>
              <a:rPr lang="en-US" sz="1600" b="1" dirty="0">
                <a:solidFill>
                  <a:schemeClr val="accent6">
                    <a:lumMod val="75000"/>
                  </a:schemeClr>
                </a:solidFill>
                <a:latin typeface="Georgia" pitchFamily="34" charset="0"/>
                <a:ea typeface="Georgia" pitchFamily="34" charset="-122"/>
                <a:cs typeface="Georgia" pitchFamily="34" charset="-120"/>
              </a:rPr>
              <a:t> | RMSE = </a:t>
            </a:r>
            <a:r>
              <a:rPr lang="en-US" dirty="0">
                <a:solidFill>
                  <a:schemeClr val="accent6">
                    <a:lumMod val="75000"/>
                  </a:schemeClr>
                </a:solidFill>
              </a:rPr>
              <a:t>31002</a:t>
            </a:r>
            <a:r>
              <a:rPr lang="en-US" sz="1600" b="1" dirty="0">
                <a:solidFill>
                  <a:schemeClr val="accent6">
                    <a:lumMod val="75000"/>
                  </a:schemeClr>
                </a:solidFill>
                <a:latin typeface="Georgia" pitchFamily="34" charset="0"/>
                <a:ea typeface="Georgia" pitchFamily="34" charset="-122"/>
                <a:cs typeface="Georgia" pitchFamily="34" charset="-120"/>
              </a:rPr>
              <a:t>| MAE = </a:t>
            </a:r>
            <a:r>
              <a:rPr lang="en-US" dirty="0">
                <a:solidFill>
                  <a:schemeClr val="accent6">
                    <a:lumMod val="75000"/>
                  </a:schemeClr>
                </a:solidFill>
              </a:rPr>
              <a:t>44984</a:t>
            </a:r>
            <a:endParaRPr lang="en-US" sz="1600" dirty="0">
              <a:solidFill>
                <a:schemeClr val="accent6">
                  <a:lumMod val="75000"/>
                </a:schemeClr>
              </a:solidFill>
            </a:endParaRPr>
          </a:p>
        </p:txBody>
      </p:sp>
      <p:sp>
        <p:nvSpPr>
          <p:cNvPr id="7" name="Text 4"/>
          <p:cNvSpPr/>
          <p:nvPr/>
        </p:nvSpPr>
        <p:spPr>
          <a:xfrm>
            <a:off x="640080" y="4788943"/>
            <a:ext cx="7863840" cy="182880"/>
          </a:xfrm>
          <a:prstGeom prst="rect">
            <a:avLst/>
          </a:prstGeom>
          <a:noFill/>
          <a:ln/>
        </p:spPr>
        <p:txBody>
          <a:bodyPr wrap="square" rtlCol="0" anchor="ctr"/>
          <a:lstStyle/>
          <a:p>
            <a:pPr marL="0" indent="0" algn="ctr">
              <a:buNone/>
            </a:pP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5F5F5"/>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marL="0" indent="0">
              <a:buNone/>
            </a:pPr>
            <a:r>
              <a:rPr lang="en-US" sz="4000" b="1" dirty="0">
                <a:solidFill>
                  <a:srgbClr val="B85042"/>
                </a:solidFill>
                <a:latin typeface="Georgia" pitchFamily="34" charset="0"/>
                <a:ea typeface="Georgia" pitchFamily="34" charset="-122"/>
                <a:cs typeface="Georgia" pitchFamily="34" charset="-120"/>
              </a:rPr>
              <a:t>Key Findings &amp; Insights</a:t>
            </a:r>
            <a:endParaRPr lang="en-US" sz="4000" dirty="0"/>
          </a:p>
        </p:txBody>
      </p:sp>
      <p:sp>
        <p:nvSpPr>
          <p:cNvPr id="4" name="Shape 2"/>
          <p:cNvSpPr/>
          <p:nvPr/>
        </p:nvSpPr>
        <p:spPr>
          <a:xfrm>
            <a:off x="640080" y="1371600"/>
            <a:ext cx="3840480" cy="868680"/>
          </a:xfrm>
          <a:prstGeom prst="rect">
            <a:avLst/>
          </a:prstGeom>
          <a:solidFill>
            <a:srgbClr val="FFFFFF"/>
          </a:solidFill>
          <a:ln w="25400">
            <a:solidFill>
              <a:srgbClr val="A7BEAE"/>
            </a:solidFill>
            <a:prstDash val="solid"/>
          </a:ln>
        </p:spPr>
        <p:txBody>
          <a:bodyPr/>
          <a:lstStyle/>
          <a:p>
            <a:endParaRPr lang="en-US"/>
          </a:p>
        </p:txBody>
      </p:sp>
      <p:sp>
        <p:nvSpPr>
          <p:cNvPr id="5" name="Text 3"/>
          <p:cNvSpPr/>
          <p:nvPr/>
        </p:nvSpPr>
        <p:spPr>
          <a:xfrm>
            <a:off x="777240" y="1508760"/>
            <a:ext cx="365760" cy="365760"/>
          </a:xfrm>
          <a:prstGeom prst="rect">
            <a:avLst/>
          </a:prstGeom>
          <a:noFill/>
          <a:ln/>
        </p:spPr>
        <p:txBody>
          <a:bodyPr wrap="square" rtlCol="0" anchor="ctr"/>
          <a:lstStyle/>
          <a:p>
            <a:pPr marL="0" indent="0" algn="ctr">
              <a:buNone/>
            </a:pPr>
            <a:r>
              <a:rPr lang="en-US" sz="2800" dirty="0">
                <a:solidFill>
                  <a:srgbClr val="000000"/>
                </a:solidFill>
              </a:rPr>
              <a:t>📊</a:t>
            </a:r>
            <a:endParaRPr lang="en-US" sz="2800" dirty="0"/>
          </a:p>
        </p:txBody>
      </p:sp>
      <p:sp>
        <p:nvSpPr>
          <p:cNvPr id="6" name="Text 4"/>
          <p:cNvSpPr/>
          <p:nvPr/>
        </p:nvSpPr>
        <p:spPr>
          <a:xfrm>
            <a:off x="1234440" y="1463040"/>
            <a:ext cx="3108960" cy="27432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Strong Model Performance</a:t>
            </a:r>
            <a:endParaRPr lang="en-US" sz="1400" dirty="0"/>
          </a:p>
        </p:txBody>
      </p:sp>
      <p:sp>
        <p:nvSpPr>
          <p:cNvPr id="7" name="Text 5"/>
          <p:cNvSpPr/>
          <p:nvPr/>
        </p:nvSpPr>
        <p:spPr>
          <a:xfrm>
            <a:off x="1234440" y="1783080"/>
            <a:ext cx="3108960" cy="36576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Random Forest achieved R² = 0.77, explaining 77% of price variance with small average error</a:t>
            </a:r>
            <a:endParaRPr lang="en-US" sz="1100" dirty="0"/>
          </a:p>
        </p:txBody>
      </p:sp>
      <p:sp>
        <p:nvSpPr>
          <p:cNvPr id="8" name="Shape 6"/>
          <p:cNvSpPr/>
          <p:nvPr/>
        </p:nvSpPr>
        <p:spPr>
          <a:xfrm>
            <a:off x="4754880" y="1371600"/>
            <a:ext cx="3840480" cy="868680"/>
          </a:xfrm>
          <a:prstGeom prst="rect">
            <a:avLst/>
          </a:prstGeom>
          <a:solidFill>
            <a:srgbClr val="FFFFFF"/>
          </a:solidFill>
          <a:ln w="25400">
            <a:solidFill>
              <a:srgbClr val="A7BEAE"/>
            </a:solidFill>
            <a:prstDash val="solid"/>
          </a:ln>
        </p:spPr>
        <p:txBody>
          <a:bodyPr/>
          <a:lstStyle/>
          <a:p>
            <a:endParaRPr lang="en-US"/>
          </a:p>
        </p:txBody>
      </p:sp>
      <p:sp>
        <p:nvSpPr>
          <p:cNvPr id="9" name="Text 7"/>
          <p:cNvSpPr/>
          <p:nvPr/>
        </p:nvSpPr>
        <p:spPr>
          <a:xfrm>
            <a:off x="4892040" y="1508760"/>
            <a:ext cx="365760" cy="365760"/>
          </a:xfrm>
          <a:prstGeom prst="rect">
            <a:avLst/>
          </a:prstGeom>
          <a:noFill/>
          <a:ln/>
        </p:spPr>
        <p:txBody>
          <a:bodyPr wrap="square" rtlCol="0" anchor="ctr"/>
          <a:lstStyle/>
          <a:p>
            <a:pPr marL="0" indent="0" algn="ctr">
              <a:buNone/>
            </a:pPr>
            <a:r>
              <a:rPr lang="en-US" sz="2800" dirty="0">
                <a:solidFill>
                  <a:srgbClr val="000000"/>
                </a:solidFill>
              </a:rPr>
              <a:t>💰</a:t>
            </a:r>
            <a:endParaRPr lang="en-US" sz="2800" dirty="0"/>
          </a:p>
        </p:txBody>
      </p:sp>
      <p:sp>
        <p:nvSpPr>
          <p:cNvPr id="10" name="Text 8"/>
          <p:cNvSpPr/>
          <p:nvPr/>
        </p:nvSpPr>
        <p:spPr>
          <a:xfrm>
            <a:off x="5349240" y="1463040"/>
            <a:ext cx="3108960" cy="27432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Income Dominance</a:t>
            </a:r>
            <a:endParaRPr lang="en-US" sz="1400" dirty="0"/>
          </a:p>
        </p:txBody>
      </p:sp>
      <p:sp>
        <p:nvSpPr>
          <p:cNvPr id="11" name="Text 9"/>
          <p:cNvSpPr/>
          <p:nvPr/>
        </p:nvSpPr>
        <p:spPr>
          <a:xfrm>
            <a:off x="5349240" y="1783080"/>
            <a:ext cx="3108960" cy="36576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Median income is the strongest predictor (52% importance), with 0.69 correlation to house values</a:t>
            </a:r>
            <a:endParaRPr lang="en-US" sz="1100" dirty="0"/>
          </a:p>
        </p:txBody>
      </p:sp>
      <p:sp>
        <p:nvSpPr>
          <p:cNvPr id="12" name="Shape 10"/>
          <p:cNvSpPr/>
          <p:nvPr/>
        </p:nvSpPr>
        <p:spPr>
          <a:xfrm>
            <a:off x="640080" y="2377440"/>
            <a:ext cx="3840480" cy="868680"/>
          </a:xfrm>
          <a:prstGeom prst="rect">
            <a:avLst/>
          </a:prstGeom>
          <a:solidFill>
            <a:srgbClr val="FFFFFF"/>
          </a:solidFill>
          <a:ln w="25400">
            <a:solidFill>
              <a:srgbClr val="A7BEAE"/>
            </a:solidFill>
            <a:prstDash val="solid"/>
          </a:ln>
        </p:spPr>
        <p:txBody>
          <a:bodyPr/>
          <a:lstStyle/>
          <a:p>
            <a:endParaRPr lang="en-US"/>
          </a:p>
        </p:txBody>
      </p:sp>
      <p:sp>
        <p:nvSpPr>
          <p:cNvPr id="13" name="Text 11"/>
          <p:cNvSpPr/>
          <p:nvPr/>
        </p:nvSpPr>
        <p:spPr>
          <a:xfrm>
            <a:off x="777240" y="2514600"/>
            <a:ext cx="365760" cy="365760"/>
          </a:xfrm>
          <a:prstGeom prst="rect">
            <a:avLst/>
          </a:prstGeom>
          <a:noFill/>
          <a:ln/>
        </p:spPr>
        <p:txBody>
          <a:bodyPr wrap="square" rtlCol="0" anchor="ctr"/>
          <a:lstStyle/>
          <a:p>
            <a:pPr marL="0" indent="0" algn="ctr">
              <a:buNone/>
            </a:pPr>
            <a:r>
              <a:rPr lang="en-US" sz="2800" dirty="0">
                <a:solidFill>
                  <a:srgbClr val="000000"/>
                </a:solidFill>
              </a:rPr>
              <a:t>📍</a:t>
            </a:r>
            <a:endParaRPr lang="en-US" sz="2800" dirty="0"/>
          </a:p>
        </p:txBody>
      </p:sp>
      <p:sp>
        <p:nvSpPr>
          <p:cNvPr id="14" name="Text 12"/>
          <p:cNvSpPr/>
          <p:nvPr/>
        </p:nvSpPr>
        <p:spPr>
          <a:xfrm>
            <a:off x="1234440" y="2468880"/>
            <a:ext cx="3108960" cy="27432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Location Matters</a:t>
            </a:r>
            <a:endParaRPr lang="en-US" sz="1400" dirty="0"/>
          </a:p>
        </p:txBody>
      </p:sp>
      <p:sp>
        <p:nvSpPr>
          <p:cNvPr id="15" name="Text 13"/>
          <p:cNvSpPr/>
          <p:nvPr/>
        </p:nvSpPr>
        <p:spPr>
          <a:xfrm>
            <a:off x="1234440" y="2788920"/>
            <a:ext cx="3108960" cy="36576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Geographic features (lat/long) contribute 37% combined - coastal properties command premium pricing</a:t>
            </a:r>
            <a:endParaRPr lang="en-US" sz="1100" dirty="0"/>
          </a:p>
        </p:txBody>
      </p:sp>
      <p:sp>
        <p:nvSpPr>
          <p:cNvPr id="16" name="Shape 14"/>
          <p:cNvSpPr/>
          <p:nvPr/>
        </p:nvSpPr>
        <p:spPr>
          <a:xfrm>
            <a:off x="4754880" y="2377440"/>
            <a:ext cx="3840480" cy="868680"/>
          </a:xfrm>
          <a:prstGeom prst="rect">
            <a:avLst/>
          </a:prstGeom>
          <a:solidFill>
            <a:srgbClr val="FFFFFF"/>
          </a:solidFill>
          <a:ln w="25400">
            <a:solidFill>
              <a:srgbClr val="A7BEAE"/>
            </a:solidFill>
            <a:prstDash val="solid"/>
          </a:ln>
        </p:spPr>
        <p:txBody>
          <a:bodyPr/>
          <a:lstStyle/>
          <a:p>
            <a:endParaRPr lang="en-US"/>
          </a:p>
        </p:txBody>
      </p:sp>
      <p:sp>
        <p:nvSpPr>
          <p:cNvPr id="17" name="Text 15"/>
          <p:cNvSpPr/>
          <p:nvPr/>
        </p:nvSpPr>
        <p:spPr>
          <a:xfrm>
            <a:off x="4892040" y="2514600"/>
            <a:ext cx="365760" cy="365760"/>
          </a:xfrm>
          <a:prstGeom prst="rect">
            <a:avLst/>
          </a:prstGeom>
          <a:noFill/>
          <a:ln/>
        </p:spPr>
        <p:txBody>
          <a:bodyPr wrap="square" rtlCol="0" anchor="ctr"/>
          <a:lstStyle/>
          <a:p>
            <a:pPr marL="0" indent="0" algn="ctr">
              <a:buNone/>
            </a:pPr>
            <a:r>
              <a:rPr lang="en-US" sz="2800" dirty="0">
                <a:solidFill>
                  <a:srgbClr val="000000"/>
                </a:solidFill>
              </a:rPr>
              <a:t>🏠</a:t>
            </a:r>
            <a:endParaRPr lang="en-US" sz="2800" dirty="0"/>
          </a:p>
        </p:txBody>
      </p:sp>
      <p:sp>
        <p:nvSpPr>
          <p:cNvPr id="18" name="Text 16"/>
          <p:cNvSpPr/>
          <p:nvPr/>
        </p:nvSpPr>
        <p:spPr>
          <a:xfrm>
            <a:off x="5349240" y="2468880"/>
            <a:ext cx="3108960" cy="27432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Feature Engineering Impact</a:t>
            </a:r>
            <a:endParaRPr lang="en-US" sz="1400" dirty="0"/>
          </a:p>
        </p:txBody>
      </p:sp>
      <p:sp>
        <p:nvSpPr>
          <p:cNvPr id="19" name="Text 17"/>
          <p:cNvSpPr/>
          <p:nvPr/>
        </p:nvSpPr>
        <p:spPr>
          <a:xfrm>
            <a:off x="5349240" y="2788920"/>
            <a:ext cx="3108960" cy="36576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Engineered ratios (rooms per household, bedrooms per room) improved model interpretability</a:t>
            </a:r>
            <a:endParaRPr lang="en-US" sz="1100" dirty="0"/>
          </a:p>
        </p:txBody>
      </p:sp>
      <p:sp>
        <p:nvSpPr>
          <p:cNvPr id="20" name="Shape 18"/>
          <p:cNvSpPr/>
          <p:nvPr/>
        </p:nvSpPr>
        <p:spPr>
          <a:xfrm>
            <a:off x="640080" y="3383280"/>
            <a:ext cx="3840480" cy="868680"/>
          </a:xfrm>
          <a:prstGeom prst="rect">
            <a:avLst/>
          </a:prstGeom>
          <a:solidFill>
            <a:srgbClr val="FFFFFF"/>
          </a:solidFill>
          <a:ln w="25400">
            <a:solidFill>
              <a:srgbClr val="A7BEAE"/>
            </a:solidFill>
            <a:prstDash val="solid"/>
          </a:ln>
        </p:spPr>
        <p:txBody>
          <a:bodyPr/>
          <a:lstStyle/>
          <a:p>
            <a:endParaRPr lang="en-US"/>
          </a:p>
        </p:txBody>
      </p:sp>
      <p:sp>
        <p:nvSpPr>
          <p:cNvPr id="21" name="Text 19"/>
          <p:cNvSpPr/>
          <p:nvPr/>
        </p:nvSpPr>
        <p:spPr>
          <a:xfrm>
            <a:off x="777240" y="3520440"/>
            <a:ext cx="365760" cy="365760"/>
          </a:xfrm>
          <a:prstGeom prst="rect">
            <a:avLst/>
          </a:prstGeom>
          <a:noFill/>
          <a:ln/>
        </p:spPr>
        <p:txBody>
          <a:bodyPr wrap="square" rtlCol="0" anchor="ctr"/>
          <a:lstStyle/>
          <a:p>
            <a:pPr marL="0" indent="0" algn="ctr">
              <a:buNone/>
            </a:pPr>
            <a:r>
              <a:rPr lang="en-US" sz="2800" dirty="0">
                <a:solidFill>
                  <a:srgbClr val="000000"/>
                </a:solidFill>
              </a:rPr>
              <a:t>⚠️</a:t>
            </a:r>
            <a:endParaRPr lang="en-US" sz="2800" dirty="0"/>
          </a:p>
        </p:txBody>
      </p:sp>
      <p:sp>
        <p:nvSpPr>
          <p:cNvPr id="22" name="Text 20"/>
          <p:cNvSpPr/>
          <p:nvPr/>
        </p:nvSpPr>
        <p:spPr>
          <a:xfrm>
            <a:off x="1234440" y="3474720"/>
            <a:ext cx="3108960" cy="27432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Data Cap Limitation</a:t>
            </a:r>
            <a:endParaRPr lang="en-US" sz="1400" dirty="0"/>
          </a:p>
        </p:txBody>
      </p:sp>
      <p:sp>
        <p:nvSpPr>
          <p:cNvPr id="23" name="Text 21"/>
          <p:cNvSpPr/>
          <p:nvPr/>
        </p:nvSpPr>
        <p:spPr>
          <a:xfrm>
            <a:off x="1234440" y="3794760"/>
            <a:ext cx="3108960" cy="36576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$500k price cap affects ~800 districts, limiting predictions for high-value properties</a:t>
            </a:r>
            <a:endParaRPr lang="en-US" sz="1100" dirty="0"/>
          </a:p>
        </p:txBody>
      </p:sp>
      <p:sp>
        <p:nvSpPr>
          <p:cNvPr id="24" name="Shape 22"/>
          <p:cNvSpPr/>
          <p:nvPr/>
        </p:nvSpPr>
        <p:spPr>
          <a:xfrm>
            <a:off x="4754880" y="3383280"/>
            <a:ext cx="3840480" cy="868680"/>
          </a:xfrm>
          <a:prstGeom prst="rect">
            <a:avLst/>
          </a:prstGeom>
          <a:solidFill>
            <a:srgbClr val="FFFFFF"/>
          </a:solidFill>
          <a:ln w="25400">
            <a:solidFill>
              <a:srgbClr val="A7BEAE"/>
            </a:solidFill>
            <a:prstDash val="solid"/>
          </a:ln>
        </p:spPr>
        <p:txBody>
          <a:bodyPr/>
          <a:lstStyle/>
          <a:p>
            <a:endParaRPr lang="en-US"/>
          </a:p>
        </p:txBody>
      </p:sp>
      <p:sp>
        <p:nvSpPr>
          <p:cNvPr id="25" name="Text 23"/>
          <p:cNvSpPr/>
          <p:nvPr/>
        </p:nvSpPr>
        <p:spPr>
          <a:xfrm>
            <a:off x="4892040" y="3520440"/>
            <a:ext cx="365760" cy="365760"/>
          </a:xfrm>
          <a:prstGeom prst="rect">
            <a:avLst/>
          </a:prstGeom>
          <a:noFill/>
          <a:ln/>
        </p:spPr>
        <p:txBody>
          <a:bodyPr wrap="square" rtlCol="0" anchor="ctr"/>
          <a:lstStyle/>
          <a:p>
            <a:pPr marL="0" indent="0" algn="ctr">
              <a:buNone/>
            </a:pPr>
            <a:r>
              <a:rPr lang="en-US" sz="2800" dirty="0">
                <a:solidFill>
                  <a:srgbClr val="000000"/>
                </a:solidFill>
              </a:rPr>
              <a:t>🎯</a:t>
            </a:r>
            <a:endParaRPr lang="en-US" sz="2800" dirty="0"/>
          </a:p>
        </p:txBody>
      </p:sp>
      <p:sp>
        <p:nvSpPr>
          <p:cNvPr id="26" name="Text 24"/>
          <p:cNvSpPr/>
          <p:nvPr/>
        </p:nvSpPr>
        <p:spPr>
          <a:xfrm>
            <a:off x="5349240" y="3474720"/>
            <a:ext cx="3108960" cy="27432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Model Robustness</a:t>
            </a:r>
            <a:endParaRPr lang="en-US" sz="1400" dirty="0"/>
          </a:p>
        </p:txBody>
      </p:sp>
      <p:sp>
        <p:nvSpPr>
          <p:cNvPr id="27" name="Text 25"/>
          <p:cNvSpPr/>
          <p:nvPr/>
        </p:nvSpPr>
        <p:spPr>
          <a:xfrm>
            <a:off x="5349240" y="3794760"/>
            <a:ext cx="3108960" cy="36576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Ensemble methods (RF, GB) significantly outperform linear models by capturing non-linear relationships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F5F5F5"/>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lIns="0" tIns="0" rIns="0" bIns="0" rtlCol="0" anchor="ctr"/>
          <a:lstStyle/>
          <a:p>
            <a:pPr marL="0" indent="0">
              <a:buNone/>
            </a:pPr>
            <a:r>
              <a:rPr lang="en-US" sz="4000" b="1" dirty="0">
                <a:solidFill>
                  <a:srgbClr val="B85042"/>
                </a:solidFill>
                <a:latin typeface="Georgia" pitchFamily="34" charset="0"/>
                <a:ea typeface="Georgia" pitchFamily="34" charset="-122"/>
                <a:cs typeface="Georgia" pitchFamily="34" charset="-120"/>
              </a:rPr>
              <a:t>Recommendations for</a:t>
            </a:r>
            <a:endParaRPr lang="en-US" sz="4000" dirty="0"/>
          </a:p>
        </p:txBody>
      </p:sp>
      <p:sp>
        <p:nvSpPr>
          <p:cNvPr id="4" name="Shape 2"/>
          <p:cNvSpPr/>
          <p:nvPr/>
        </p:nvSpPr>
        <p:spPr>
          <a:xfrm>
            <a:off x="640080" y="1371600"/>
            <a:ext cx="7863840" cy="457200"/>
          </a:xfrm>
          <a:prstGeom prst="rect">
            <a:avLst/>
          </a:prstGeom>
          <a:solidFill>
            <a:srgbClr val="FFFFFF"/>
          </a:solidFill>
          <a:ln w="19050">
            <a:solidFill>
              <a:srgbClr val="B85042"/>
            </a:solidFill>
            <a:prstDash val="solid"/>
          </a:ln>
        </p:spPr>
        <p:txBody>
          <a:bodyPr/>
          <a:lstStyle/>
          <a:p>
            <a:endParaRPr lang="en-US"/>
          </a:p>
        </p:txBody>
      </p:sp>
      <p:sp>
        <p:nvSpPr>
          <p:cNvPr id="5" name="Shape 3"/>
          <p:cNvSpPr/>
          <p:nvPr/>
        </p:nvSpPr>
        <p:spPr>
          <a:xfrm>
            <a:off x="777240" y="1444752"/>
            <a:ext cx="320040" cy="320040"/>
          </a:xfrm>
          <a:prstGeom prst="ellipse">
            <a:avLst/>
          </a:prstGeom>
          <a:solidFill>
            <a:srgbClr val="B85042"/>
          </a:solidFill>
          <a:ln/>
        </p:spPr>
        <p:txBody>
          <a:bodyPr/>
          <a:lstStyle/>
          <a:p>
            <a:endParaRPr lang="en-US"/>
          </a:p>
        </p:txBody>
      </p:sp>
      <p:sp>
        <p:nvSpPr>
          <p:cNvPr id="6" name="Text 4"/>
          <p:cNvSpPr/>
          <p:nvPr/>
        </p:nvSpPr>
        <p:spPr>
          <a:xfrm>
            <a:off x="777240" y="1444752"/>
            <a:ext cx="320040" cy="320040"/>
          </a:xfrm>
          <a:prstGeom prst="rect">
            <a:avLst/>
          </a:prstGeom>
          <a:noFill/>
          <a:ln/>
        </p:spPr>
        <p:txBody>
          <a:bodyPr wrap="square"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7" name="Text 5"/>
          <p:cNvSpPr/>
          <p:nvPr/>
        </p:nvSpPr>
        <p:spPr>
          <a:xfrm>
            <a:off x="1234440" y="1444752"/>
            <a:ext cx="3657600" cy="32004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Remove Price Cap</a:t>
            </a:r>
            <a:endParaRPr lang="en-US" sz="1400" dirty="0"/>
          </a:p>
        </p:txBody>
      </p:sp>
      <p:sp>
        <p:nvSpPr>
          <p:cNvPr id="8" name="Text 6"/>
          <p:cNvSpPr/>
          <p:nvPr/>
        </p:nvSpPr>
        <p:spPr>
          <a:xfrm>
            <a:off x="5029200" y="1444752"/>
            <a:ext cx="2743200" cy="32004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Obtain or simulate data above $500k to improve luxury home predictions</a:t>
            </a:r>
            <a:endParaRPr lang="en-US" sz="1100" dirty="0"/>
          </a:p>
        </p:txBody>
      </p:sp>
      <p:sp>
        <p:nvSpPr>
          <p:cNvPr id="9" name="Text 7"/>
          <p:cNvSpPr/>
          <p:nvPr/>
        </p:nvSpPr>
        <p:spPr>
          <a:xfrm>
            <a:off x="7863840" y="1444752"/>
            <a:ext cx="548640" cy="320040"/>
          </a:xfrm>
          <a:prstGeom prst="rect">
            <a:avLst/>
          </a:prstGeom>
          <a:noFill/>
          <a:ln/>
        </p:spPr>
        <p:txBody>
          <a:bodyPr wrap="square" rtlCol="0" anchor="ctr"/>
          <a:lstStyle/>
          <a:p>
            <a:pPr marL="0" indent="0" algn="ctr">
              <a:buNone/>
            </a:pPr>
            <a:r>
              <a:rPr lang="en-US" sz="900" b="1" dirty="0">
                <a:solidFill>
                  <a:srgbClr val="E74C3C"/>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640080" y="1920240"/>
            <a:ext cx="7863840" cy="457200"/>
          </a:xfrm>
          <a:prstGeom prst="rect">
            <a:avLst/>
          </a:prstGeom>
          <a:solidFill>
            <a:srgbClr val="FFFFFF"/>
          </a:solidFill>
          <a:ln w="19050">
            <a:solidFill>
              <a:srgbClr val="B85042"/>
            </a:solidFill>
            <a:prstDash val="solid"/>
          </a:ln>
        </p:spPr>
        <p:txBody>
          <a:bodyPr/>
          <a:lstStyle/>
          <a:p>
            <a:endParaRPr lang="en-US"/>
          </a:p>
        </p:txBody>
      </p:sp>
      <p:sp>
        <p:nvSpPr>
          <p:cNvPr id="11" name="Shape 9"/>
          <p:cNvSpPr/>
          <p:nvPr/>
        </p:nvSpPr>
        <p:spPr>
          <a:xfrm>
            <a:off x="777240" y="1993392"/>
            <a:ext cx="320040" cy="320040"/>
          </a:xfrm>
          <a:prstGeom prst="ellipse">
            <a:avLst/>
          </a:prstGeom>
          <a:solidFill>
            <a:srgbClr val="B85042"/>
          </a:solidFill>
          <a:ln/>
        </p:spPr>
        <p:txBody>
          <a:bodyPr/>
          <a:lstStyle/>
          <a:p>
            <a:endParaRPr lang="en-US"/>
          </a:p>
        </p:txBody>
      </p:sp>
      <p:sp>
        <p:nvSpPr>
          <p:cNvPr id="12" name="Text 10"/>
          <p:cNvSpPr/>
          <p:nvPr/>
        </p:nvSpPr>
        <p:spPr>
          <a:xfrm>
            <a:off x="777240" y="1993392"/>
            <a:ext cx="320040" cy="320040"/>
          </a:xfrm>
          <a:prstGeom prst="rect">
            <a:avLst/>
          </a:prstGeom>
          <a:noFill/>
          <a:ln/>
        </p:spPr>
        <p:txBody>
          <a:bodyPr wrap="square"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1234440" y="1993392"/>
            <a:ext cx="3657600" cy="32004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Hyperparameter Tuning</a:t>
            </a:r>
            <a:endParaRPr lang="en-US" sz="1400" dirty="0"/>
          </a:p>
        </p:txBody>
      </p:sp>
      <p:sp>
        <p:nvSpPr>
          <p:cNvPr id="14" name="Text 12"/>
          <p:cNvSpPr/>
          <p:nvPr/>
        </p:nvSpPr>
        <p:spPr>
          <a:xfrm>
            <a:off x="5029200" y="1993392"/>
            <a:ext cx="2743200" cy="32004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Use GridSearchCV or RandomizedSearchCV to optimize model parameters</a:t>
            </a:r>
            <a:endParaRPr lang="en-US" sz="1100" dirty="0"/>
          </a:p>
        </p:txBody>
      </p:sp>
      <p:sp>
        <p:nvSpPr>
          <p:cNvPr id="15" name="Text 13"/>
          <p:cNvSpPr/>
          <p:nvPr/>
        </p:nvSpPr>
        <p:spPr>
          <a:xfrm>
            <a:off x="7863840" y="1993392"/>
            <a:ext cx="548640" cy="320040"/>
          </a:xfrm>
          <a:prstGeom prst="rect">
            <a:avLst/>
          </a:prstGeom>
          <a:noFill/>
          <a:ln/>
        </p:spPr>
        <p:txBody>
          <a:bodyPr wrap="square" rtlCol="0" anchor="ctr"/>
          <a:lstStyle/>
          <a:p>
            <a:pPr marL="0" indent="0" algn="ctr">
              <a:buNone/>
            </a:pPr>
            <a:r>
              <a:rPr lang="en-US" sz="900" b="1" dirty="0">
                <a:solidFill>
                  <a:srgbClr val="E74C3C"/>
                </a:solidFill>
                <a:latin typeface="Calibri" pitchFamily="34" charset="0"/>
                <a:ea typeface="Calibri" pitchFamily="34" charset="-122"/>
                <a:cs typeface="Calibri" pitchFamily="34" charset="-120"/>
              </a:rPr>
              <a:t>HIGH</a:t>
            </a:r>
            <a:endParaRPr lang="en-US" sz="900" dirty="0"/>
          </a:p>
        </p:txBody>
      </p:sp>
      <p:sp>
        <p:nvSpPr>
          <p:cNvPr id="16" name="Shape 14"/>
          <p:cNvSpPr/>
          <p:nvPr/>
        </p:nvSpPr>
        <p:spPr>
          <a:xfrm>
            <a:off x="640080" y="2468880"/>
            <a:ext cx="7863840" cy="457200"/>
          </a:xfrm>
          <a:prstGeom prst="rect">
            <a:avLst/>
          </a:prstGeom>
          <a:solidFill>
            <a:srgbClr val="FFFFFF"/>
          </a:solidFill>
          <a:ln w="19050">
            <a:solidFill>
              <a:srgbClr val="B85042"/>
            </a:solidFill>
            <a:prstDash val="solid"/>
          </a:ln>
        </p:spPr>
        <p:txBody>
          <a:bodyPr/>
          <a:lstStyle/>
          <a:p>
            <a:endParaRPr lang="en-US"/>
          </a:p>
        </p:txBody>
      </p:sp>
      <p:sp>
        <p:nvSpPr>
          <p:cNvPr id="17" name="Shape 15"/>
          <p:cNvSpPr/>
          <p:nvPr/>
        </p:nvSpPr>
        <p:spPr>
          <a:xfrm>
            <a:off x="777240" y="2542032"/>
            <a:ext cx="320040" cy="320040"/>
          </a:xfrm>
          <a:prstGeom prst="ellipse">
            <a:avLst/>
          </a:prstGeom>
          <a:solidFill>
            <a:srgbClr val="B85042"/>
          </a:solidFill>
          <a:ln/>
        </p:spPr>
        <p:txBody>
          <a:bodyPr/>
          <a:lstStyle/>
          <a:p>
            <a:endParaRPr lang="en-US"/>
          </a:p>
        </p:txBody>
      </p:sp>
      <p:sp>
        <p:nvSpPr>
          <p:cNvPr id="18" name="Text 16"/>
          <p:cNvSpPr/>
          <p:nvPr/>
        </p:nvSpPr>
        <p:spPr>
          <a:xfrm>
            <a:off x="777240" y="2542032"/>
            <a:ext cx="320040" cy="320040"/>
          </a:xfrm>
          <a:prstGeom prst="rect">
            <a:avLst/>
          </a:prstGeom>
          <a:noFill/>
          <a:ln/>
        </p:spPr>
        <p:txBody>
          <a:bodyPr wrap="square"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19" name="Text 17"/>
          <p:cNvSpPr/>
          <p:nvPr/>
        </p:nvSpPr>
        <p:spPr>
          <a:xfrm>
            <a:off x="1234440" y="2542032"/>
            <a:ext cx="3657600" cy="32004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Cross-Validation</a:t>
            </a:r>
            <a:endParaRPr lang="en-US" sz="1400" dirty="0"/>
          </a:p>
        </p:txBody>
      </p:sp>
      <p:sp>
        <p:nvSpPr>
          <p:cNvPr id="20" name="Text 18"/>
          <p:cNvSpPr/>
          <p:nvPr/>
        </p:nvSpPr>
        <p:spPr>
          <a:xfrm>
            <a:off x="5029200" y="2542032"/>
            <a:ext cx="2743200" cy="32004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Implement k-fold CV (k=5 or 10) for more robust performance estimates</a:t>
            </a:r>
            <a:endParaRPr lang="en-US" sz="1100" dirty="0"/>
          </a:p>
        </p:txBody>
      </p:sp>
      <p:sp>
        <p:nvSpPr>
          <p:cNvPr id="21" name="Text 19"/>
          <p:cNvSpPr/>
          <p:nvPr/>
        </p:nvSpPr>
        <p:spPr>
          <a:xfrm>
            <a:off x="7863840" y="2542032"/>
            <a:ext cx="548640" cy="320040"/>
          </a:xfrm>
          <a:prstGeom prst="rect">
            <a:avLst/>
          </a:prstGeom>
          <a:noFill/>
          <a:ln/>
        </p:spPr>
        <p:txBody>
          <a:bodyPr wrap="square" rtlCol="0" anchor="ctr"/>
          <a:lstStyle/>
          <a:p>
            <a:pPr marL="0" indent="0" algn="ctr">
              <a:buNone/>
            </a:pPr>
            <a:r>
              <a:rPr lang="en-US" sz="900" b="1" dirty="0">
                <a:solidFill>
                  <a:srgbClr val="F39C12"/>
                </a:solidFill>
                <a:latin typeface="Calibri" pitchFamily="34" charset="0"/>
                <a:ea typeface="Calibri" pitchFamily="34" charset="-122"/>
                <a:cs typeface="Calibri" pitchFamily="34" charset="-120"/>
              </a:rPr>
              <a:t>MEDIUM</a:t>
            </a:r>
            <a:endParaRPr lang="en-US" sz="900" dirty="0"/>
          </a:p>
        </p:txBody>
      </p:sp>
      <p:sp>
        <p:nvSpPr>
          <p:cNvPr id="22" name="Shape 20"/>
          <p:cNvSpPr/>
          <p:nvPr/>
        </p:nvSpPr>
        <p:spPr>
          <a:xfrm>
            <a:off x="640080" y="3017520"/>
            <a:ext cx="7863840" cy="457200"/>
          </a:xfrm>
          <a:prstGeom prst="rect">
            <a:avLst/>
          </a:prstGeom>
          <a:solidFill>
            <a:srgbClr val="FFFFFF"/>
          </a:solidFill>
          <a:ln w="19050">
            <a:solidFill>
              <a:srgbClr val="B85042"/>
            </a:solidFill>
            <a:prstDash val="solid"/>
          </a:ln>
        </p:spPr>
        <p:txBody>
          <a:bodyPr/>
          <a:lstStyle/>
          <a:p>
            <a:endParaRPr lang="en-US"/>
          </a:p>
        </p:txBody>
      </p:sp>
      <p:sp>
        <p:nvSpPr>
          <p:cNvPr id="23" name="Shape 21"/>
          <p:cNvSpPr/>
          <p:nvPr/>
        </p:nvSpPr>
        <p:spPr>
          <a:xfrm>
            <a:off x="777240" y="3090672"/>
            <a:ext cx="320040" cy="320040"/>
          </a:xfrm>
          <a:prstGeom prst="ellipse">
            <a:avLst/>
          </a:prstGeom>
          <a:solidFill>
            <a:srgbClr val="B85042"/>
          </a:solidFill>
          <a:ln/>
        </p:spPr>
        <p:txBody>
          <a:bodyPr/>
          <a:lstStyle/>
          <a:p>
            <a:endParaRPr lang="en-US"/>
          </a:p>
        </p:txBody>
      </p:sp>
      <p:sp>
        <p:nvSpPr>
          <p:cNvPr id="24" name="Text 22"/>
          <p:cNvSpPr/>
          <p:nvPr/>
        </p:nvSpPr>
        <p:spPr>
          <a:xfrm>
            <a:off x="777240" y="3090672"/>
            <a:ext cx="320040" cy="320040"/>
          </a:xfrm>
          <a:prstGeom prst="rect">
            <a:avLst/>
          </a:prstGeom>
          <a:noFill/>
          <a:ln/>
        </p:spPr>
        <p:txBody>
          <a:bodyPr wrap="square"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4</a:t>
            </a:r>
            <a:endParaRPr lang="en-US" sz="1800" dirty="0"/>
          </a:p>
        </p:txBody>
      </p:sp>
      <p:sp>
        <p:nvSpPr>
          <p:cNvPr id="25" name="Text 23"/>
          <p:cNvSpPr/>
          <p:nvPr/>
        </p:nvSpPr>
        <p:spPr>
          <a:xfrm>
            <a:off x="1234440" y="3090672"/>
            <a:ext cx="3657600" cy="32004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Advanced Features</a:t>
            </a:r>
            <a:endParaRPr lang="en-US" sz="1400" dirty="0"/>
          </a:p>
        </p:txBody>
      </p:sp>
      <p:sp>
        <p:nvSpPr>
          <p:cNvPr id="26" name="Text 24"/>
          <p:cNvSpPr/>
          <p:nvPr/>
        </p:nvSpPr>
        <p:spPr>
          <a:xfrm>
            <a:off x="5029200" y="3090672"/>
            <a:ext cx="2743200" cy="32004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Add external data: school ratings, crime rates, proximity to amenities</a:t>
            </a:r>
            <a:endParaRPr lang="en-US" sz="1100" dirty="0"/>
          </a:p>
        </p:txBody>
      </p:sp>
      <p:sp>
        <p:nvSpPr>
          <p:cNvPr id="27" name="Text 25"/>
          <p:cNvSpPr/>
          <p:nvPr/>
        </p:nvSpPr>
        <p:spPr>
          <a:xfrm>
            <a:off x="7863840" y="3090672"/>
            <a:ext cx="548640" cy="320040"/>
          </a:xfrm>
          <a:prstGeom prst="rect">
            <a:avLst/>
          </a:prstGeom>
          <a:noFill/>
          <a:ln/>
        </p:spPr>
        <p:txBody>
          <a:bodyPr wrap="square" rtlCol="0" anchor="ctr"/>
          <a:lstStyle/>
          <a:p>
            <a:pPr marL="0" indent="0" algn="ctr">
              <a:buNone/>
            </a:pPr>
            <a:r>
              <a:rPr lang="en-US" sz="900" b="1" dirty="0">
                <a:solidFill>
                  <a:srgbClr val="F39C12"/>
                </a:solidFill>
                <a:latin typeface="Calibri" pitchFamily="34" charset="0"/>
                <a:ea typeface="Calibri" pitchFamily="34" charset="-122"/>
                <a:cs typeface="Calibri" pitchFamily="34" charset="-120"/>
              </a:rPr>
              <a:t>MEDIUM</a:t>
            </a:r>
            <a:endParaRPr lang="en-US" sz="900" dirty="0"/>
          </a:p>
        </p:txBody>
      </p:sp>
      <p:sp>
        <p:nvSpPr>
          <p:cNvPr id="28" name="Shape 26"/>
          <p:cNvSpPr/>
          <p:nvPr/>
        </p:nvSpPr>
        <p:spPr>
          <a:xfrm>
            <a:off x="640080" y="3566160"/>
            <a:ext cx="7863840" cy="457200"/>
          </a:xfrm>
          <a:prstGeom prst="rect">
            <a:avLst/>
          </a:prstGeom>
          <a:solidFill>
            <a:srgbClr val="FFFFFF"/>
          </a:solidFill>
          <a:ln w="19050">
            <a:solidFill>
              <a:srgbClr val="B85042"/>
            </a:solidFill>
            <a:prstDash val="solid"/>
          </a:ln>
        </p:spPr>
        <p:txBody>
          <a:bodyPr/>
          <a:lstStyle/>
          <a:p>
            <a:endParaRPr lang="en-US"/>
          </a:p>
        </p:txBody>
      </p:sp>
      <p:sp>
        <p:nvSpPr>
          <p:cNvPr id="29" name="Shape 27"/>
          <p:cNvSpPr/>
          <p:nvPr/>
        </p:nvSpPr>
        <p:spPr>
          <a:xfrm>
            <a:off x="777240" y="3639312"/>
            <a:ext cx="320040" cy="320040"/>
          </a:xfrm>
          <a:prstGeom prst="ellipse">
            <a:avLst/>
          </a:prstGeom>
          <a:solidFill>
            <a:srgbClr val="B85042"/>
          </a:solidFill>
          <a:ln/>
        </p:spPr>
        <p:txBody>
          <a:bodyPr/>
          <a:lstStyle/>
          <a:p>
            <a:endParaRPr lang="en-US"/>
          </a:p>
        </p:txBody>
      </p:sp>
      <p:sp>
        <p:nvSpPr>
          <p:cNvPr id="30" name="Text 28"/>
          <p:cNvSpPr/>
          <p:nvPr/>
        </p:nvSpPr>
        <p:spPr>
          <a:xfrm>
            <a:off x="777240" y="3639312"/>
            <a:ext cx="320040" cy="320040"/>
          </a:xfrm>
          <a:prstGeom prst="rect">
            <a:avLst/>
          </a:prstGeom>
          <a:noFill/>
          <a:ln/>
        </p:spPr>
        <p:txBody>
          <a:bodyPr wrap="square"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5</a:t>
            </a:r>
            <a:endParaRPr lang="en-US" sz="1800" dirty="0"/>
          </a:p>
        </p:txBody>
      </p:sp>
      <p:sp>
        <p:nvSpPr>
          <p:cNvPr id="31" name="Text 29"/>
          <p:cNvSpPr/>
          <p:nvPr/>
        </p:nvSpPr>
        <p:spPr>
          <a:xfrm>
            <a:off x="1234440" y="3639312"/>
            <a:ext cx="3657600" cy="32004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Ensemble Stacking</a:t>
            </a:r>
            <a:endParaRPr lang="en-US" sz="1400" dirty="0"/>
          </a:p>
        </p:txBody>
      </p:sp>
      <p:sp>
        <p:nvSpPr>
          <p:cNvPr id="32" name="Text 30"/>
          <p:cNvSpPr/>
          <p:nvPr/>
        </p:nvSpPr>
        <p:spPr>
          <a:xfrm>
            <a:off x="5029200" y="3639312"/>
            <a:ext cx="2743200" cy="32004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Stack multiple models (RF + GB + XGBoost) for improved accuracy</a:t>
            </a:r>
            <a:endParaRPr lang="en-US" sz="1100" dirty="0"/>
          </a:p>
        </p:txBody>
      </p:sp>
      <p:sp>
        <p:nvSpPr>
          <p:cNvPr id="33" name="Text 31"/>
          <p:cNvSpPr/>
          <p:nvPr/>
        </p:nvSpPr>
        <p:spPr>
          <a:xfrm>
            <a:off x="7863840" y="3639312"/>
            <a:ext cx="548640" cy="320040"/>
          </a:xfrm>
          <a:prstGeom prst="rect">
            <a:avLst/>
          </a:prstGeom>
          <a:noFill/>
          <a:ln/>
        </p:spPr>
        <p:txBody>
          <a:bodyPr wrap="square" rtlCol="0" anchor="ctr"/>
          <a:lstStyle/>
          <a:p>
            <a:pPr marL="0" indent="0" algn="ctr">
              <a:buNone/>
            </a:pPr>
            <a:r>
              <a:rPr lang="en-US" sz="900" b="1" dirty="0">
                <a:solidFill>
                  <a:srgbClr val="F39C12"/>
                </a:solidFill>
                <a:latin typeface="Calibri" pitchFamily="34" charset="0"/>
                <a:ea typeface="Calibri" pitchFamily="34" charset="-122"/>
                <a:cs typeface="Calibri" pitchFamily="34" charset="-120"/>
              </a:rPr>
              <a:t>MEDIUM</a:t>
            </a:r>
            <a:endParaRPr lang="en-US" sz="900" dirty="0"/>
          </a:p>
        </p:txBody>
      </p:sp>
      <p:sp>
        <p:nvSpPr>
          <p:cNvPr id="34" name="Shape 32"/>
          <p:cNvSpPr/>
          <p:nvPr/>
        </p:nvSpPr>
        <p:spPr>
          <a:xfrm>
            <a:off x="640080" y="4114800"/>
            <a:ext cx="7863840" cy="457200"/>
          </a:xfrm>
          <a:prstGeom prst="rect">
            <a:avLst/>
          </a:prstGeom>
          <a:solidFill>
            <a:srgbClr val="FFFFFF"/>
          </a:solidFill>
          <a:ln w="19050">
            <a:solidFill>
              <a:srgbClr val="B85042"/>
            </a:solidFill>
            <a:prstDash val="solid"/>
          </a:ln>
        </p:spPr>
        <p:txBody>
          <a:bodyPr/>
          <a:lstStyle/>
          <a:p>
            <a:endParaRPr lang="en-US"/>
          </a:p>
        </p:txBody>
      </p:sp>
      <p:sp>
        <p:nvSpPr>
          <p:cNvPr id="35" name="Shape 33"/>
          <p:cNvSpPr/>
          <p:nvPr/>
        </p:nvSpPr>
        <p:spPr>
          <a:xfrm>
            <a:off x="777240" y="4187952"/>
            <a:ext cx="320040" cy="320040"/>
          </a:xfrm>
          <a:prstGeom prst="ellipse">
            <a:avLst/>
          </a:prstGeom>
          <a:solidFill>
            <a:srgbClr val="B85042"/>
          </a:solidFill>
          <a:ln/>
        </p:spPr>
        <p:txBody>
          <a:bodyPr/>
          <a:lstStyle/>
          <a:p>
            <a:endParaRPr lang="en-US"/>
          </a:p>
        </p:txBody>
      </p:sp>
      <p:sp>
        <p:nvSpPr>
          <p:cNvPr id="36" name="Text 34"/>
          <p:cNvSpPr/>
          <p:nvPr/>
        </p:nvSpPr>
        <p:spPr>
          <a:xfrm>
            <a:off x="777240" y="4187952"/>
            <a:ext cx="320040" cy="320040"/>
          </a:xfrm>
          <a:prstGeom prst="rect">
            <a:avLst/>
          </a:prstGeom>
          <a:noFill/>
          <a:ln/>
        </p:spPr>
        <p:txBody>
          <a:bodyPr wrap="square" rtlCol="0" anchor="ctr"/>
          <a:lstStyle/>
          <a:p>
            <a:pPr marL="0" indent="0" algn="ctr">
              <a:buNone/>
            </a:pPr>
            <a:r>
              <a:rPr lang="en-US" sz="1800" b="1" dirty="0">
                <a:solidFill>
                  <a:srgbClr val="FFFFFF"/>
                </a:solidFill>
                <a:latin typeface="Georgia" pitchFamily="34" charset="0"/>
                <a:ea typeface="Georgia" pitchFamily="34" charset="-122"/>
                <a:cs typeface="Georgia" pitchFamily="34" charset="-120"/>
              </a:rPr>
              <a:t>6</a:t>
            </a:r>
            <a:endParaRPr lang="en-US" sz="1800" dirty="0"/>
          </a:p>
        </p:txBody>
      </p:sp>
      <p:sp>
        <p:nvSpPr>
          <p:cNvPr id="37" name="Text 35"/>
          <p:cNvSpPr/>
          <p:nvPr/>
        </p:nvSpPr>
        <p:spPr>
          <a:xfrm>
            <a:off x="1234440" y="4187952"/>
            <a:ext cx="3657600" cy="320040"/>
          </a:xfrm>
          <a:prstGeom prst="rect">
            <a:avLst/>
          </a:prstGeom>
          <a:noFill/>
          <a:ln/>
        </p:spPr>
        <p:txBody>
          <a:bodyPr wrap="square" rtlCol="0" anchor="ctr"/>
          <a:lstStyle/>
          <a:p>
            <a:pPr marL="0" indent="0">
              <a:buNone/>
            </a:pPr>
            <a:r>
              <a:rPr lang="en-US" sz="1400" b="1" dirty="0">
                <a:solidFill>
                  <a:srgbClr val="B85042"/>
                </a:solidFill>
                <a:latin typeface="Georgia" pitchFamily="34" charset="0"/>
                <a:ea typeface="Georgia" pitchFamily="34" charset="-122"/>
                <a:cs typeface="Georgia" pitchFamily="34" charset="-120"/>
              </a:rPr>
              <a:t>Model Deployment</a:t>
            </a:r>
            <a:endParaRPr lang="en-US" sz="1400" dirty="0"/>
          </a:p>
        </p:txBody>
      </p:sp>
      <p:sp>
        <p:nvSpPr>
          <p:cNvPr id="38" name="Text 36"/>
          <p:cNvSpPr/>
          <p:nvPr/>
        </p:nvSpPr>
        <p:spPr>
          <a:xfrm>
            <a:off x="5029200" y="4187952"/>
            <a:ext cx="2743200" cy="320040"/>
          </a:xfrm>
          <a:prstGeom prst="rect">
            <a:avLst/>
          </a:prstGeom>
          <a:noFill/>
          <a:ln/>
        </p:spPr>
        <p:txBody>
          <a:bodyPr wrap="square" rtlCol="0" anchor="ctr"/>
          <a:lstStyle/>
          <a:p>
            <a:pPr marL="0" indent="0">
              <a:buNone/>
            </a:pPr>
            <a:r>
              <a:rPr lang="en-US" sz="1100" dirty="0">
                <a:solidFill>
                  <a:srgbClr val="2C3E50"/>
                </a:solidFill>
                <a:latin typeface="Calibri" pitchFamily="34" charset="0"/>
                <a:ea typeface="Calibri" pitchFamily="34" charset="-122"/>
                <a:cs typeface="Calibri" pitchFamily="34" charset="-120"/>
              </a:rPr>
              <a:t>Deploy as REST API with Flask/FastAPI for real-time predictions</a:t>
            </a:r>
            <a:endParaRPr lang="en-US" sz="1100" dirty="0"/>
          </a:p>
        </p:txBody>
      </p:sp>
      <p:sp>
        <p:nvSpPr>
          <p:cNvPr id="39" name="Text 37"/>
          <p:cNvSpPr/>
          <p:nvPr/>
        </p:nvSpPr>
        <p:spPr>
          <a:xfrm>
            <a:off x="7863840" y="4187952"/>
            <a:ext cx="548640" cy="320040"/>
          </a:xfrm>
          <a:prstGeom prst="rect">
            <a:avLst/>
          </a:prstGeom>
          <a:noFill/>
          <a:ln/>
        </p:spPr>
        <p:txBody>
          <a:bodyPr wrap="square" rtlCol="0" anchor="ctr"/>
          <a:lstStyle/>
          <a:p>
            <a:pPr marL="0" indent="0" algn="ctr">
              <a:buNone/>
            </a:pPr>
            <a:r>
              <a:rPr lang="en-US" sz="900" b="1" dirty="0">
                <a:solidFill>
                  <a:srgbClr val="95A5A6"/>
                </a:solidFill>
                <a:latin typeface="Calibri" pitchFamily="34" charset="0"/>
                <a:ea typeface="Calibri" pitchFamily="34" charset="-122"/>
                <a:cs typeface="Calibri" pitchFamily="34" charset="-120"/>
              </a:rPr>
              <a:t>LOW</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B85042"/>
        </a:solidFill>
        <a:effectLst/>
      </p:bgPr>
    </p:bg>
    <p:spTree>
      <p:nvGrpSpPr>
        <p:cNvPr id="1" name=""/>
        <p:cNvGrpSpPr/>
        <p:nvPr/>
      </p:nvGrpSpPr>
      <p:grpSpPr>
        <a:xfrm>
          <a:off x="0" y="0"/>
          <a:ext cx="0" cy="0"/>
          <a:chOff x="0" y="0"/>
          <a:chExt cx="0" cy="0"/>
        </a:xfrm>
      </p:grpSpPr>
      <p:sp>
        <p:nvSpPr>
          <p:cNvPr id="2" name="Text 0"/>
          <p:cNvSpPr/>
          <p:nvPr/>
        </p:nvSpPr>
        <p:spPr>
          <a:xfrm>
            <a:off x="457200" y="914400"/>
            <a:ext cx="8229600" cy="640080"/>
          </a:xfrm>
          <a:prstGeom prst="rect">
            <a:avLst/>
          </a:prstGeom>
          <a:noFill/>
          <a:ln/>
        </p:spPr>
        <p:txBody>
          <a:bodyPr wrap="square" rtlCol="0" anchor="ctr"/>
          <a:lstStyle/>
          <a:p>
            <a:pPr marL="0" indent="0" algn="ctr">
              <a:buNone/>
            </a:pPr>
            <a:r>
              <a:rPr lang="en-US" sz="5200" b="1" dirty="0">
                <a:solidFill>
                  <a:srgbClr val="FFFFFF"/>
                </a:solidFill>
                <a:latin typeface="Georgia" pitchFamily="34" charset="0"/>
                <a:ea typeface="Georgia" pitchFamily="34" charset="-122"/>
                <a:cs typeface="Georgia" pitchFamily="34" charset="-120"/>
              </a:rPr>
              <a:t>Conclusion</a:t>
            </a:r>
            <a:endParaRPr lang="en-US" sz="5200" dirty="0"/>
          </a:p>
        </p:txBody>
      </p:sp>
      <p:sp>
        <p:nvSpPr>
          <p:cNvPr id="3" name="Shape 1"/>
          <p:cNvSpPr/>
          <p:nvPr/>
        </p:nvSpPr>
        <p:spPr>
          <a:xfrm>
            <a:off x="3200400" y="1691640"/>
            <a:ext cx="2743200" cy="54864"/>
          </a:xfrm>
          <a:prstGeom prst="rect">
            <a:avLst/>
          </a:prstGeom>
          <a:solidFill>
            <a:srgbClr val="E7E8D1"/>
          </a:solidFill>
          <a:ln/>
        </p:spPr>
        <p:txBody>
          <a:bodyPr/>
          <a:lstStyle/>
          <a:p>
            <a:endParaRPr lang="en-US"/>
          </a:p>
        </p:txBody>
      </p:sp>
      <p:sp>
        <p:nvSpPr>
          <p:cNvPr id="4" name="Shape 2"/>
          <p:cNvSpPr/>
          <p:nvPr/>
        </p:nvSpPr>
        <p:spPr>
          <a:xfrm>
            <a:off x="914400" y="2011680"/>
            <a:ext cx="7315200" cy="2286000"/>
          </a:xfrm>
          <a:prstGeom prst="rect">
            <a:avLst/>
          </a:prstGeom>
          <a:solidFill>
            <a:srgbClr val="FFFFFF">
              <a:alpha val="90000"/>
            </a:srgbClr>
          </a:solidFill>
          <a:ln/>
        </p:spPr>
        <p:txBody>
          <a:bodyPr/>
          <a:lstStyle/>
          <a:p>
            <a:endParaRPr lang="en-US"/>
          </a:p>
        </p:txBody>
      </p:sp>
      <p:sp>
        <p:nvSpPr>
          <p:cNvPr id="5" name="Text 3"/>
          <p:cNvSpPr/>
          <p:nvPr/>
        </p:nvSpPr>
        <p:spPr>
          <a:xfrm>
            <a:off x="1097280" y="2148840"/>
            <a:ext cx="6949440" cy="320040"/>
          </a:xfrm>
          <a:prstGeom prst="rect">
            <a:avLst/>
          </a:prstGeom>
          <a:noFill/>
          <a:ln/>
        </p:spPr>
        <p:txBody>
          <a:bodyPr wrap="square" rtlCol="0" anchor="ctr"/>
          <a:lstStyle/>
          <a:p>
            <a:pPr marL="0" indent="0">
              <a:buNone/>
            </a:pPr>
            <a:r>
              <a:rPr lang="en-US" sz="2000" b="1" dirty="0">
                <a:solidFill>
                  <a:srgbClr val="B85042"/>
                </a:solidFill>
                <a:latin typeface="Georgia" pitchFamily="34" charset="0"/>
                <a:ea typeface="Georgia" pitchFamily="34" charset="-122"/>
                <a:cs typeface="Georgia" pitchFamily="34" charset="-120"/>
              </a:rPr>
              <a:t>Project Summary</a:t>
            </a:r>
            <a:endParaRPr lang="en-US" sz="2000" dirty="0"/>
          </a:p>
        </p:txBody>
      </p:sp>
      <p:sp>
        <p:nvSpPr>
          <p:cNvPr id="6" name="Text 4"/>
          <p:cNvSpPr/>
          <p:nvPr/>
        </p:nvSpPr>
        <p:spPr>
          <a:xfrm>
            <a:off x="1097280" y="2606040"/>
            <a:ext cx="6949440" cy="1463040"/>
          </a:xfrm>
          <a:prstGeom prst="rect">
            <a:avLst/>
          </a:prstGeom>
          <a:noFill/>
          <a:ln/>
        </p:spPr>
        <p:txBody>
          <a:bodyPr wrap="square" rtlCol="0" anchor="ctr"/>
          <a:lstStyle/>
          <a:p>
            <a:pPr marL="0" indent="0">
              <a:buNone/>
            </a:pPr>
            <a:r>
              <a:rPr lang="en-US" sz="1500" dirty="0">
                <a:solidFill>
                  <a:srgbClr val="2C3E50"/>
                </a:solidFill>
              </a:rPr>
              <a:t>✓ Comprehensive data preprocessing with feature engineering</a:t>
            </a:r>
            <a:endParaRPr lang="en-US" sz="1500" dirty="0"/>
          </a:p>
          <a:p>
            <a:pPr marL="0" indent="0">
              <a:buNone/>
            </a:pPr>
            <a:r>
              <a:rPr lang="en-US" sz="1500" dirty="0">
                <a:solidFill>
                  <a:srgbClr val="2C3E50"/>
                </a:solidFill>
              </a:rPr>
              <a:t>✓ Excellent model performance: R² = 0.77 (Random Forest)</a:t>
            </a:r>
            <a:endParaRPr lang="en-US" sz="1500" dirty="0"/>
          </a:p>
          <a:p>
            <a:pPr marL="0" indent="0">
              <a:buNone/>
            </a:pPr>
            <a:r>
              <a:rPr lang="en-US" sz="1500" dirty="0">
                <a:solidFill>
                  <a:srgbClr val="2C3E50"/>
                </a:solidFill>
              </a:rPr>
              <a:t>✓ Strong insights: Income and location drive prices</a:t>
            </a:r>
            <a:endParaRPr lang="en-US" sz="1500" dirty="0"/>
          </a:p>
          <a:p>
            <a:pPr marL="0" indent="0">
              <a:buNone/>
            </a:pPr>
            <a:r>
              <a:rPr lang="en-US" sz="1500" dirty="0">
                <a:solidFill>
                  <a:srgbClr val="2C3E50"/>
                </a:solidFill>
              </a:rPr>
              <a:t>✓ Professional implementation with multiple model comparison</a:t>
            </a:r>
            <a:endParaRPr lang="en-US" sz="1500" dirty="0"/>
          </a:p>
          <a:p>
            <a:pPr marL="0" indent="0">
              <a:buNone/>
            </a:pPr>
            <a:r>
              <a:rPr lang="en-US" sz="1500" dirty="0">
                <a:solidFill>
                  <a:srgbClr val="2C3E50"/>
                </a:solidFill>
              </a:rPr>
              <a:t>✓ Clear visualizations and thorough documentation</a:t>
            </a:r>
            <a:endParaRPr lang="en-US" sz="1500" dirty="0"/>
          </a:p>
        </p:txBody>
      </p:sp>
      <p:sp>
        <p:nvSpPr>
          <p:cNvPr id="8" name="Text 6"/>
          <p:cNvSpPr/>
          <p:nvPr/>
        </p:nvSpPr>
        <p:spPr>
          <a:xfrm>
            <a:off x="2286000" y="4480560"/>
            <a:ext cx="4572000" cy="457200"/>
          </a:xfrm>
          <a:prstGeom prst="rect">
            <a:avLst/>
          </a:prstGeom>
          <a:noFill/>
          <a:ln/>
        </p:spPr>
        <p:txBody>
          <a:bodyPr wrap="square" rtlCol="0" anchor="ctr"/>
          <a:lstStyle/>
          <a:p>
            <a:pPr marL="0" indent="0" algn="ctr">
              <a:buNone/>
            </a:pP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TotalTime>
  <Words>1392</Words>
  <Application>Microsoft Office PowerPoint</Application>
  <PresentationFormat>On-screen Show (16:9)</PresentationFormat>
  <Paragraphs>188</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California Housing Price Prediction - Complete Analysis</dc:title>
  <dc:subject>PptxGenJS Presentation</dc:subject>
  <dc:creator>California Housing Price Prediction Project</dc:creator>
  <cp:lastModifiedBy>Mohab Tamer Neagm</cp:lastModifiedBy>
  <cp:revision>8</cp:revision>
  <dcterms:created xsi:type="dcterms:W3CDTF">2026-01-30T15:50:59Z</dcterms:created>
  <dcterms:modified xsi:type="dcterms:W3CDTF">2026-02-04T16:09:16Z</dcterms:modified>
</cp:coreProperties>
</file>