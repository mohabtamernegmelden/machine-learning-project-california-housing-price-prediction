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Ga3jzSLdAr7ObZLE3eR9w+EHr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504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California Housing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Price Prediction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E7E8D1"/>
                </a:solidFill>
                <a:latin typeface="Calibri"/>
                <a:ea typeface="Calibri"/>
                <a:cs typeface="Calibri"/>
                <a:sym typeface="Calibri"/>
              </a:rPr>
              <a:t>Predicting Real Estate Values using Machine Learning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200400" y="3566160"/>
            <a:ext cx="2743200" cy="45720"/>
          </a:xfrm>
          <a:prstGeom prst="rect">
            <a:avLst/>
          </a:prstGeom>
          <a:solidFill>
            <a:srgbClr val="E7E8D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Comprehensive ML Regression Analysis | 20,640 Districts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457200" y="960120"/>
            <a:ext cx="2286000" cy="7315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640080" y="1371600"/>
            <a:ext cx="786384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777240" y="14813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1371600" y="14447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Multiple Influencing Factors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1371600" y="175564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Property values affected by location, size, condition, time - factors vary substantially between properties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40080" y="2148840"/>
            <a:ext cx="786384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77240" y="2258568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77240" y="22585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371600" y="22219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Market Volatility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371600" y="253288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Housing market depends on demand/supply fluctuations, interest rates, and inflation - challenging price prediction over time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2926080"/>
            <a:ext cx="786384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77240" y="3035808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77240" y="30358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371600" y="29992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Limited Data Features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371600" y="331012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Datasets contain limited features per property, making feature engineering critically important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3703320"/>
            <a:ext cx="786384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77240" y="3813048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77240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71600" y="377647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Dataset Context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371600" y="408736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California housing dataset (1990 Census) with 20,640 districts and diverse house-related attributes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Study Aim &amp; Dataset Overview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7200" y="960120"/>
            <a:ext cx="2926080" cy="7315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40080" y="1371600"/>
            <a:ext cx="3931920" cy="3200400"/>
          </a:xfrm>
          <a:prstGeom prst="rect">
            <a:avLst/>
          </a:prstGeom>
          <a:solidFill>
            <a:srgbClr val="E7E8D1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822960" y="15544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Study Objective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22960" y="201168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Build and evaluate regression models to predict median house values in California districts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Key Focus Areas: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Data preprocessing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Feature engineering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Model comparison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Optimal performance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Using geographical, demographic, and housing-related features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754880" y="1371600"/>
            <a:ext cx="3749040" cy="3200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937760" y="15544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Dataset Statistics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937760" y="21031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Total Districts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937760" y="23317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20,640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766560" y="21031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766560" y="23317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9 + Engineered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937760" y="265176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Target Variable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937760" y="288036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median_house_value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766560" y="265176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766560" y="288036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207 (0.1%)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937760" y="32004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Price Range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937760" y="34290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$15k - $50k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766560" y="32004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Median Price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766560" y="34290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$179,700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Data Distribution Analysis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57200" y="960120"/>
            <a:ext cx="2743200" cy="7315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822960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FF3CD"/>
          </a:solidFill>
          <a:ln cap="flat" cmpd="sng" w="254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⚠️ Critical Finding: Notice the spike at $500k in median_house_value - this data cap limits predictions for luxury homes (affects ~800 districts)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Geographic Price Distribution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7200" y="960120"/>
            <a:ext cx="2926080" cy="7315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852" y="1280160"/>
            <a:ext cx="4521895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5669280" y="1280160"/>
            <a:ext cx="3017520" cy="3474720"/>
          </a:xfrm>
          <a:prstGeom prst="rect">
            <a:avLst/>
          </a:prstGeom>
          <a:solidFill>
            <a:srgbClr val="E7E8D1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852160" y="14630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Geographic Insights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852160" y="1920240"/>
            <a:ext cx="26517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Visualization: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Circle size = Population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Color = Price (Blue→Red)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Key Patterns: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Coastal premium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(Bay Area, LA, San Diego)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Inland affordability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(Central Valley regions)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💡 Geography is a major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price determinant - location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features critical for ML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Feature Correlation Analysis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960120"/>
            <a:ext cx="2926080" cy="7315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54864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6126480" y="1280160"/>
            <a:ext cx="2560320" cy="3474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309360" y="14630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Top Correlations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309360" y="1828800"/>
            <a:ext cx="21945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With median_house_value: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#1 median_income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Correlation: +0.69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#2 Total rooms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Correlation: +0.13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#3 Latitude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Correlation: -0.14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(Prices ↓ going North)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💡 Income drives 48%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of price variance!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Feature Engineering &amp; Preprocessing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40080" y="1568558"/>
            <a:ext cx="3931920" cy="3269889"/>
          </a:xfrm>
          <a:prstGeom prst="rect">
            <a:avLst/>
          </a:prstGeom>
          <a:solidFill>
            <a:srgbClr val="E8F5E9"/>
          </a:solidFill>
          <a:ln cap="flat" cmpd="sng" w="254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871406" y="15544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Data Preprocessing 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22960" y="2087299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Dropped 207 missing bedrooms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2. Categorical Encoding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One-Hot Encoding for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ocean_proximity (5 categories)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3. Feature Scaling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StandardScaler applied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Normalized all features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4. Train-Test Split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80% training (16,512)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20% testing (4,128)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706435" y="1577339"/>
            <a:ext cx="3749040" cy="3269889"/>
          </a:xfrm>
          <a:prstGeom prst="rect">
            <a:avLst/>
          </a:prstGeom>
          <a:solidFill>
            <a:srgbClr val="FFF3E0"/>
          </a:solidFill>
          <a:ln cap="flat" cmpd="sng" w="254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937760" y="15544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Feature Engineering ⚙️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937760" y="1965960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1. rooms_per_household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= total_rooms / households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Captures property size density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2. bedrooms_per_room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= total_bedrooms / total_rooms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Indicates room type distribution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3. population_per_household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= population / households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Measures household occupancy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These ratios provide better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insights than raw counts!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Model Performance Comparison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86191"/>
            <a:ext cx="8229600" cy="231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🏆 </a:t>
            </a:r>
            <a:r>
              <a:rPr b="1" lang="en-US" sz="1600">
                <a:solidFill>
                  <a:srgbClr val="548135"/>
                </a:solidFill>
                <a:latin typeface="Georgia"/>
                <a:ea typeface="Georgia"/>
                <a:cs typeface="Georgia"/>
                <a:sym typeface="Georgia"/>
              </a:rPr>
              <a:t>Winner: Random Forest Regressor | R² = </a:t>
            </a:r>
            <a:r>
              <a:rPr lang="en-US" sz="1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0.778371</a:t>
            </a:r>
            <a:r>
              <a:rPr b="1" lang="en-US" sz="1600">
                <a:solidFill>
                  <a:srgbClr val="548135"/>
                </a:solidFill>
                <a:latin typeface="Georgia"/>
                <a:ea typeface="Georgia"/>
                <a:cs typeface="Georgia"/>
                <a:sym typeface="Georgia"/>
              </a:rPr>
              <a:t> | RMSE = </a:t>
            </a:r>
            <a:r>
              <a:rPr lang="en-US" sz="1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31002</a:t>
            </a:r>
            <a:r>
              <a:rPr b="1" lang="en-US" sz="1600">
                <a:solidFill>
                  <a:srgbClr val="548135"/>
                </a:solidFill>
                <a:latin typeface="Georgia"/>
                <a:ea typeface="Georgia"/>
                <a:cs typeface="Georgia"/>
                <a:sym typeface="Georgia"/>
              </a:rPr>
              <a:t>| MAE = </a:t>
            </a:r>
            <a:r>
              <a:rPr lang="en-US" sz="1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44984</a:t>
            </a:r>
            <a:endParaRPr sz="16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640080" y="4788943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Key Findings &amp; Insights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640080" y="1371600"/>
            <a:ext cx="384048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7BE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77724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1234440" y="14630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Strong Model Performance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1234440" y="17830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Random Forest achieved R² = 0.77, explaining 77% of price variance with small average error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754880" y="1371600"/>
            <a:ext cx="384048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7BE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89204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5349240" y="14630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Income Dominance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5349240" y="17830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Median income is the strongest predictor (52% importance), with 0.69 correlation to house values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640080" y="2377440"/>
            <a:ext cx="384048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7BE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777240" y="2514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1234440" y="24688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Location Matters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1234440" y="27889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Geographic features (lat/long) contribute 37% combined - coastal properties command premium pricing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754880" y="2377440"/>
            <a:ext cx="384048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7BE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4892040" y="2514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5349240" y="24688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Feature Engineering Impact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5349240" y="27889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Engineered ratios (rooms per household, bedrooms per room) improved model interpretability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640080" y="3383280"/>
            <a:ext cx="384048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7BE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777240" y="35204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234440" y="34747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Data Cap Limitation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234440" y="37947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$500k price cap affects ~800 districts, limiting predictions for high-value properties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754880" y="3383280"/>
            <a:ext cx="384048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7BE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892040" y="35204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349240" y="34747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Model Robustness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349240" y="37947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Ensemble methods (RF, GB) significantly outperform linear models by capturing non-linear relationships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Recommendations for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777240" y="1444752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777240" y="144475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1234440" y="14447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Remove Price Cap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5029200" y="14447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Obtain or simulate data above $500k to improve luxury home predictions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7863840" y="144475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777240" y="1993392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777240" y="199339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1234440" y="19933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Hyperparameter Tuning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029200" y="19933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Use GridSearchCV or RandomizedSearchCV to optimize model parameters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7863840" y="199339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777240" y="2542032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777240" y="254203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1234440" y="25420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Cross-Validation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029200" y="25420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Implement k-fold CV (k=5 or 10) for more robust performance estimates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7863840" y="254203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777240" y="3090672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777240" y="309067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234440" y="309067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Advanced Features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029200" y="309067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Add external data: school ratings, crime rates, proximity to amenities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7863840" y="309067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777240" y="3639312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777240" y="363931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234440" y="36393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Ensemble Stacking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029200" y="36393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Stack multiple models (RF + GB + XGBoost) for improved accuracy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7863840" y="363931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777240" y="4187952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777240" y="418795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1234440" y="41879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Model Deployment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029200" y="41879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Deploy as REST API with Flask/FastAPI for real-time predictions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7863840" y="418795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504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lang="en-US" sz="5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3200400" y="1691640"/>
            <a:ext cx="2743200" cy="54864"/>
          </a:xfrm>
          <a:prstGeom prst="rect">
            <a:avLst/>
          </a:prstGeom>
          <a:solidFill>
            <a:srgbClr val="E7E8D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914400" y="2011680"/>
            <a:ext cx="7315200" cy="22860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1097280" y="214884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Project Summary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7280" y="2606040"/>
            <a:ext cx="6949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Comprehensive data preprocessing with feature engineering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Excellent model performance: R² = 0.77 (Random Forest)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Strong insights: Income and location drive prices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Professional implementation with multiple model comparison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Clear visualizations and thorough documentation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2286000" y="44805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2026-01-30T15:50:59Z</dcterms:created>
  <dc:creator>California Housing Price Prediction Project</dc:creator>
</cp:coreProperties>
</file>